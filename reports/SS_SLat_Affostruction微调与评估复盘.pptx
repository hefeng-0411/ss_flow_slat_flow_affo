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本页先给出整场汇报的结论。项目由两个阶段组成：SS 负责生成稀疏结构支撑，SLat 负责在支撑坐标上生成外观和局部几何属性。当前代码已经从旧版的大骨干直接改写，转向官方 SS 全量流模型，以及冻结 TRELLIS 先验的 SLat 残差模型。需要特别强调，后面的评估数据来自旧版检查点，所以这些结果是重构动机，而不是当前新架构的最终成绩。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端到端流程可以压缩为五步。第一步读取严格按 frame ID 对齐的稀疏多视图数据。第二步由 VGGT 提供相机、深度、点图和置信度，DINO 提供语义特征。第三步 SS 在 16 立方网格上生成 active support。第四步 SLat 把这些 active voxel 投影回所有输入视图，采样语义与纹理特征并融合，然后仅预测相对原始 TRELLIS 的速度残差。第五步由 TRELLIS 解码器生成 Gaussian 和 mesh。这个分工避免让一个模块同时承担拓扑、材质和多视图一致性。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SS 的旧版问题并不是没有学习，而是学习目标发生了偏移。旧模型有二十四层、宽度一千零二十四，并同时承受 CFM、occupancy、silhouette 和 depth 多种梯度。日志显示总损失下降主要来自 occupancy，而核心 CFM 后期反而更差。当前设计改为 Affostruction 官方的十二层、宽度七百六十八模型。DINO 只提供冻结条件，SS Flow 全参数训练，损失严格使用条件流匹配 MSE。这样训练目标重新变成生成正确的 latent velocity，而不是单纯提高低分辨率 occupancy。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SLat 的旧架构直接更新原生 TRELLIS 大骨干，这是外观退化的主要风险。同时旧训练使用 GT support，而组合推理使用预测 SS support，训练和推理分布不一致。当前方案冻结原生 TRELLIS，把它作为基础速度。新的 Affostruction 稀疏流只预测残差。每个 active voxel 会投影到所有输入视图，分别采样高层 DINO 语义和低层 RGB 纹理，再使用置信度、前景、遮挡、深度和角度一致性融合。最终残差经过 tanh 限幅并乘以置信度，因此低可信或未观测区域会自动回退到原始 TRELLIS。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评估覆盖二百五十一个对象，四组全部成功。SS-only 的 Asset Chamfer Distance 下降约百分之十五，SS IoU 从零点一二提高到零点三二四，说明 SS 确实学到了更接近 GT 的支撑结构。但是图像质量明显下降：SS-only 的 PSNR 下降六点六 dB，组合模型下降十点二二 dB。前景指标也同步恶化，因此不是背景造成的假象。SLat-only 的几何改善不到百分之一，却损失七点三八 dB PSNR。组合模型比 SS-only 还差，表明旧 SLat 不能修复 SS，反而继续破坏 latent appearance。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优化必须按顺序推进。第一，不继续使用旧检查点，而是从当前新架构重新训练。第二，SLat 后期必须使用当前 SS 的真实预测 support，消除 teacher forcing 和推理之间的分布差异。第三，拆解并校准置信度各因子，先验证相机和深度几何，再调整阈值。第四，提高 decoded asset 监督频率和视图数，并把前景感知指标直接纳入验证。第五，不能再只评估 last checkpoint，要比较 EMA、best 和 last，并在完整验证集上选模型。最终验收标准不是训练 loss 下降，而是 SS+SLat 在保持几何收益的同时，显著优于 SS-only 的前景 PSNR、LPIPS 和轮廓指标。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777240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38CDDD"/>
                </a:solidFill>
                <a:latin typeface="Noto Sans CJK SC"/>
              </a:rPr>
              <a:t>VGGT × TRELLIS × Affostruction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97280"/>
            <a:ext cx="10607040" cy="8046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3400" b="1">
                <a:solidFill>
                  <a:srgbClr val="F0F5FA"/>
                </a:solidFill>
                <a:latin typeface="Noto Sans CJK SC"/>
              </a:rPr>
              <a:t>SS / SLat 微调架构与评估复盘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920240"/>
            <a:ext cx="1042416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0">
                <a:solidFill>
                  <a:srgbClr val="9AABBE"/>
                </a:solidFill>
                <a:latin typeface="Noto Sans CJK SC"/>
              </a:rPr>
              <a:t>从稀疏多视图几何条件，到冻结先验的结构化潜变量残差流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2743200"/>
            <a:ext cx="3319272" cy="1216152"/>
          </a:xfrm>
          <a:prstGeom prst="roundRect">
            <a:avLst/>
          </a:prstGeom>
          <a:solidFill>
            <a:srgbClr val="121F32"/>
          </a:solidFill>
          <a:ln>
            <a:solidFill>
              <a:srgbClr val="4A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916936"/>
            <a:ext cx="64008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4A8BFF"/>
                </a:solidFill>
                <a:latin typeface="Noto Sans CJK SC"/>
              </a:rPr>
              <a:t>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852928"/>
            <a:ext cx="2240280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0">
                <a:solidFill>
                  <a:srgbClr val="F0F5FA"/>
                </a:solidFill>
                <a:latin typeface="Noto Sans CJK SC"/>
              </a:rPr>
              <a:t>官方 768×12 全量流模型
RGBD voxel 条件 + CFM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33087" y="3200400"/>
            <a:ext cx="438912" cy="292608"/>
          </a:xfrm>
          <a:prstGeom prst="rightArrow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773168" y="2743200"/>
            <a:ext cx="3968496" cy="1216152"/>
          </a:xfrm>
          <a:prstGeom prst="roundRect">
            <a:avLst/>
          </a:prstGeom>
          <a:solidFill>
            <a:srgbClr val="121F32"/>
          </a:solidFill>
          <a:ln>
            <a:solidFill>
              <a:srgbClr val="A67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65192" y="2916936"/>
            <a:ext cx="91440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200" b="1">
                <a:solidFill>
                  <a:srgbClr val="A671FF"/>
                </a:solidFill>
                <a:latin typeface="Noto Sans CJK SC"/>
              </a:rPr>
              <a:t>SLat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2852928"/>
            <a:ext cx="2487168" cy="685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0">
                <a:solidFill>
                  <a:srgbClr val="F0F5FA"/>
                </a:solidFill>
                <a:latin typeface="Noto Sans CJK SC"/>
              </a:rPr>
              <a:t>冻结 TRELLIS 先验
像素对齐稀疏残差流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" y="4663440"/>
            <a:ext cx="10588752" cy="731520"/>
          </a:xfrm>
          <a:prstGeom prst="roundRect">
            <a:avLst/>
          </a:prstGeom>
          <a:solidFill>
            <a:srgbClr val="17283F"/>
          </a:solidFill>
          <a:ln>
            <a:solidFill>
              <a:srgbClr val="F5A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846320"/>
            <a:ext cx="1051560" cy="3200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F5A637"/>
                </a:solidFill>
                <a:latin typeface="Noto Sans CJK SC"/>
              </a:rPr>
              <a:t>关键判断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65960" y="4791456"/>
            <a:ext cx="8915400" cy="40233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>
                <a:solidFill>
                  <a:srgbClr val="F0F5FA"/>
                </a:solidFill>
                <a:latin typeface="Noto Sans CJK SC"/>
              </a:rPr>
              <a:t>旧检查点：几何↑，外观与轮廓↓↓；当前新架构尚需重新训练与四组消融验证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" y="5989320"/>
            <a:ext cx="3840480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0">
                <a:solidFill>
                  <a:srgbClr val="9AABBE"/>
                </a:solidFill>
                <a:latin typeface="Noto Sans CJK SC"/>
              </a:rPr>
              <a:t>项目技术汇报 · 6页精简版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54864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38CDDD"/>
                </a:solidFill>
                <a:latin typeface="Noto Sans CJK SC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19456"/>
            <a:ext cx="1069848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F0F5FA"/>
                </a:solidFill>
                <a:latin typeface="Noto Sans CJK SC"/>
              </a:rPr>
              <a:t>当前微调：端到端最简流程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713232"/>
            <a:ext cx="106070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50" b="0">
                <a:solidFill>
                  <a:srgbClr val="9AABBE"/>
                </a:solidFill>
                <a:latin typeface="Noto Sans CJK SC"/>
              </a:rPr>
              <a:t>输入只使用稀疏多视图图像；SS 定结构，SLat 定属性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42415"/>
            <a:ext cx="11292840" cy="22860"/>
          </a:xfrm>
          <a:prstGeom prst="rect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874519" cy="1024128"/>
          </a:xfrm>
          <a:prstGeom prst="roundRect">
            <a:avLst/>
          </a:prstGeom>
          <a:solidFill>
            <a:srgbClr val="17283F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508760"/>
            <a:ext cx="1655063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38CDDD"/>
                </a:solidFill>
                <a:latin typeface="Noto Sans CJK SC"/>
              </a:rPr>
              <a:t>稀疏多视图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1819656"/>
            <a:ext cx="1655063" cy="484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0">
                <a:solidFill>
                  <a:srgbClr val="F0F5FA"/>
                </a:solidFill>
                <a:latin typeface="Noto Sans CJK SC"/>
              </a:rPr>
              <a:t>RGB / mask / frame ID
K、T、depth、confidence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87168" y="1773936"/>
            <a:ext cx="347472" cy="292608"/>
          </a:xfrm>
          <a:prstGeom prst="rightArrow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07792" y="1417320"/>
            <a:ext cx="1783080" cy="1024128"/>
          </a:xfrm>
          <a:prstGeom prst="roundRect">
            <a:avLst/>
          </a:prstGeom>
          <a:solidFill>
            <a:srgbClr val="17283F"/>
          </a:solidFill>
          <a:ln>
            <a:solidFill>
              <a:srgbClr val="4A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508760"/>
            <a:ext cx="1563624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4A8BFF"/>
                </a:solidFill>
                <a:latin typeface="Noto Sans CJK SC"/>
              </a:rPr>
              <a:t>VGGT + DINO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819656"/>
            <a:ext cx="1563624" cy="484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0">
                <a:solidFill>
                  <a:srgbClr val="F0F5FA"/>
                </a:solidFill>
                <a:latin typeface="Noto Sans CJK SC"/>
              </a:rPr>
              <a:t>相机与点图对齐
高层语义特征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00600" y="1773936"/>
            <a:ext cx="347472" cy="292608"/>
          </a:xfrm>
          <a:prstGeom prst="rightArrow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12080" y="1417320"/>
            <a:ext cx="1783080" cy="1024128"/>
          </a:xfrm>
          <a:prstGeom prst="roundRect">
            <a:avLst/>
          </a:prstGeom>
          <a:solidFill>
            <a:srgbClr val="17283F"/>
          </a:solidFill>
          <a:ln>
            <a:solidFill>
              <a:srgbClr val="3BC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21808" y="1508760"/>
            <a:ext cx="1563624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3BCB85"/>
                </a:solidFill>
                <a:latin typeface="Noto Sans CJK SC"/>
              </a:rPr>
              <a:t>SS 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1808" y="1819656"/>
            <a:ext cx="1563624" cy="484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0">
                <a:solidFill>
                  <a:srgbClr val="F0F5FA"/>
                </a:solidFill>
                <a:latin typeface="Noto Sans CJK SC"/>
              </a:rPr>
              <a:t>16³ voxel condition
CFM → active support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04888" y="1773936"/>
            <a:ext cx="347472" cy="292608"/>
          </a:xfrm>
          <a:prstGeom prst="rightArrow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516368" y="1417320"/>
            <a:ext cx="1874519" cy="1024128"/>
          </a:xfrm>
          <a:prstGeom prst="roundRect">
            <a:avLst/>
          </a:prstGeom>
          <a:solidFill>
            <a:srgbClr val="17283F"/>
          </a:solidFill>
          <a:ln>
            <a:solidFill>
              <a:srgbClr val="A67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26096" y="1508760"/>
            <a:ext cx="1655063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A671FF"/>
                </a:solidFill>
                <a:latin typeface="Noto Sans CJK SC"/>
              </a:rPr>
              <a:t>SLat Residual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6096" y="1819656"/>
            <a:ext cx="1655063" cy="484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0">
                <a:solidFill>
                  <a:srgbClr val="F0F5FA"/>
                </a:solidFill>
                <a:latin typeface="Noto Sans CJK SC"/>
              </a:rPr>
              <a:t>64³ active voxel
跨视图像素对齐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500616" y="1773936"/>
            <a:ext cx="347472" cy="292608"/>
          </a:xfrm>
          <a:prstGeom prst="rightArrow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912096" y="1417320"/>
            <a:ext cx="1755648" cy="1024128"/>
          </a:xfrm>
          <a:prstGeom prst="roundRect">
            <a:avLst/>
          </a:prstGeom>
          <a:solidFill>
            <a:srgbClr val="17283F"/>
          </a:solidFill>
          <a:ln>
            <a:solidFill>
              <a:srgbClr val="F5A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21824" y="1508760"/>
            <a:ext cx="1536192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F5A637"/>
                </a:solidFill>
                <a:latin typeface="Noto Sans CJK SC"/>
              </a:rPr>
              <a:t>TRELLIS Decode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21824" y="1819656"/>
            <a:ext cx="1536192" cy="484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0">
                <a:solidFill>
                  <a:srgbClr val="F0F5FA"/>
                </a:solidFill>
                <a:latin typeface="Noto Sans CJK SC"/>
              </a:rPr>
              <a:t>Gaussian / mesh
新视角渲染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2953512"/>
            <a:ext cx="5413248" cy="2670048"/>
          </a:xfrm>
          <a:prstGeom prst="roundRect">
            <a:avLst/>
          </a:prstGeom>
          <a:solidFill>
            <a:srgbClr val="121F32"/>
          </a:solidFill>
          <a:ln>
            <a:solidFill>
              <a:srgbClr val="12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163824"/>
            <a:ext cx="4846320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3BCB85"/>
                </a:solidFill>
                <a:latin typeface="Noto Sans CJK SC"/>
              </a:rPr>
              <a:t>SS：学习“哪里有结构”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3639312"/>
            <a:ext cx="4754880" cy="1627632"/>
          </a:xfrm>
          <a:prstGeom prst="rect">
            <a:avLst/>
          </a:prstGeom>
          <a:noFill/>
        </p:spPr>
        <p:txBody>
          <a:bodyPr wrap="square" lIns="73152" rIns="54864" tIns="54864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F0F5FA"/>
                </a:solidFill>
                <a:latin typeface="Noto Sans CJK SC"/>
              </a:defRPr>
            </a:pPr>
            <a:r>
              <a:t>• RGBD 反投影 → 16³ voxel</a:t>
            </a:r>
          </a:p>
          <a:p>
            <a:pPr>
              <a:spcAft>
                <a:spcPts val="1100"/>
              </a:spcAft>
              <a:defRPr sz="1400">
                <a:solidFill>
                  <a:srgbClr val="F0F5FA"/>
                </a:solidFill>
                <a:latin typeface="Noto Sans CJK SC"/>
              </a:defRPr>
            </a:pPr>
            <a:r>
              <a:t>• 跨视图平均 DINO token + 3D 位置编码</a:t>
            </a:r>
          </a:p>
          <a:p>
            <a:pPr>
              <a:spcAft>
                <a:spcPts val="1100"/>
              </a:spcAft>
              <a:defRPr sz="1400">
                <a:solidFill>
                  <a:srgbClr val="F0F5FA"/>
                </a:solidFill>
                <a:latin typeface="Noto Sans CJK SC"/>
              </a:defRPr>
            </a:pPr>
            <a:r>
              <a:t>• 全量训练官方 Affostruction SS Flow</a:t>
            </a:r>
          </a:p>
          <a:p>
            <a:pPr>
              <a:spcAft>
                <a:spcPts val="1100"/>
              </a:spcAft>
              <a:defRPr sz="1400">
                <a:solidFill>
                  <a:srgbClr val="F0F5FA"/>
                </a:solidFill>
                <a:latin typeface="Noto Sans CJK SC"/>
              </a:defRPr>
            </a:pPr>
            <a:r>
              <a:t>• 输出 active voxel support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44768" y="2953512"/>
            <a:ext cx="5522976" cy="2670048"/>
          </a:xfrm>
          <a:prstGeom prst="roundRect">
            <a:avLst/>
          </a:prstGeom>
          <a:solidFill>
            <a:srgbClr val="121F32"/>
          </a:solidFill>
          <a:ln>
            <a:solidFill>
              <a:srgbClr val="121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91656" y="3163824"/>
            <a:ext cx="5029200" cy="35661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A671FF"/>
                </a:solidFill>
                <a:latin typeface="Noto Sans CJK SC"/>
              </a:rPr>
              <a:t>SLat：学习“每个结构点是什么”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2" y="3639312"/>
            <a:ext cx="4828032" cy="1627632"/>
          </a:xfrm>
          <a:prstGeom prst="rect">
            <a:avLst/>
          </a:prstGeom>
          <a:noFill/>
        </p:spPr>
        <p:txBody>
          <a:bodyPr wrap="square" lIns="73152" rIns="54864" tIns="54864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F0F5FA"/>
                </a:solidFill>
                <a:latin typeface="Noto Sans CJK SC"/>
              </a:defRPr>
            </a:pPr>
            <a:r>
              <a:t>• 投影 active voxel → 每个相机视图</a:t>
            </a:r>
          </a:p>
          <a:p>
            <a:pPr>
              <a:spcAft>
                <a:spcPts val="1100"/>
              </a:spcAft>
              <a:defRPr sz="1400">
                <a:solidFill>
                  <a:srgbClr val="F0F5FA"/>
                </a:solidFill>
                <a:latin typeface="Noto Sans CJK SC"/>
              </a:defRPr>
            </a:pPr>
            <a:r>
              <a:t>• 采样高层语义 + 低层 RGB 纹理</a:t>
            </a:r>
          </a:p>
          <a:p>
            <a:pPr>
              <a:spcAft>
                <a:spcPts val="1100"/>
              </a:spcAft>
              <a:defRPr sz="1400">
                <a:solidFill>
                  <a:srgbClr val="F0F5FA"/>
                </a:solidFill>
                <a:latin typeface="Noto Sans CJK SC"/>
              </a:defRPr>
            </a:pPr>
            <a:r>
              <a:t>• 置信度 / 遮挡 / 深度 / 角度加权融合</a:t>
            </a:r>
          </a:p>
          <a:p>
            <a:pPr>
              <a:spcAft>
                <a:spcPts val="1100"/>
              </a:spcAft>
              <a:defRPr sz="1400">
                <a:solidFill>
                  <a:srgbClr val="F0F5FA"/>
                </a:solidFill>
                <a:latin typeface="Noto Sans CJK SC"/>
              </a:defRPr>
            </a:pPr>
            <a:r>
              <a:t>• 受限残差修正冻结 TRELLIS velocity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" y="6537960"/>
            <a:ext cx="77724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9AABBE"/>
                </a:solidFill>
                <a:latin typeface="Noto Sans CJK SC"/>
              </a:rPr>
              <a:t>SS Flow · SLat Flow · VGGT + TRELLIS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54864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38CDDD"/>
                </a:solidFill>
                <a:latin typeface="Noto Sans CJK SC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19456"/>
            <a:ext cx="1069848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F0F5FA"/>
                </a:solidFill>
                <a:latin typeface="Noto Sans CJK SC"/>
              </a:rPr>
              <a:t>SS 阶段：从辅助损失驱动，回归官方条件流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713232"/>
            <a:ext cx="106070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50" b="0">
                <a:solidFill>
                  <a:srgbClr val="9AABBE"/>
                </a:solidFill>
                <a:latin typeface="Noto Sans CJK SC"/>
              </a:rPr>
              <a:t>目标：保持 Affostruction Stage-1 拓扑与训练范式一致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42415"/>
            <a:ext cx="11292840" cy="22860"/>
          </a:xfrm>
          <a:prstGeom prst="rect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53312"/>
            <a:ext cx="3730752" cy="4443984"/>
          </a:xfrm>
          <a:prstGeom prst="roundRect">
            <a:avLst/>
          </a:prstGeom>
          <a:solidFill>
            <a:srgbClr val="121F32"/>
          </a:solidFill>
          <a:ln>
            <a:solidFill>
              <a:srgbClr val="F25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255264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F25B68"/>
                </a:solidFill>
                <a:latin typeface="Noto Sans CJK SC"/>
              </a:rPr>
              <a:t>旧版（本次已评估）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039112"/>
            <a:ext cx="3172968" cy="2148840"/>
          </a:xfrm>
          <a:prstGeom prst="rect">
            <a:avLst/>
          </a:prstGeom>
          <a:noFill/>
        </p:spPr>
        <p:txBody>
          <a:bodyPr wrap="square" lIns="73152" rIns="54864" tIns="54864">
            <a:spAutoFit/>
          </a:bodyPr>
          <a:lstStyle/>
          <a:p>
            <a:pPr>
              <a:spcAft>
                <a:spcPts val="1300"/>
              </a:spcAft>
              <a:defRPr sz="1350">
                <a:solidFill>
                  <a:srgbClr val="F0F5FA"/>
                </a:solidFill>
                <a:latin typeface="Noto Sans CJK SC"/>
              </a:defRPr>
            </a:pPr>
            <a:r>
              <a:t>• TRELLIS SS 大骨干直接全量改写</a:t>
            </a:r>
          </a:p>
          <a:p>
            <a:pPr>
              <a:spcAft>
                <a:spcPts val="1300"/>
              </a:spcAft>
              <a:defRPr sz="1350">
                <a:solidFill>
                  <a:srgbClr val="F0F5FA"/>
                </a:solidFill>
                <a:latin typeface="Noto Sans CJK SC"/>
              </a:defRPr>
            </a:pPr>
            <a:r>
              <a:t>• 1024 hidden × 24 blocks</a:t>
            </a:r>
          </a:p>
          <a:p>
            <a:pPr>
              <a:spcAft>
                <a:spcPts val="1300"/>
              </a:spcAft>
              <a:defRPr sz="1350">
                <a:solidFill>
                  <a:srgbClr val="F0F5FA"/>
                </a:solidFill>
                <a:latin typeface="Noto Sans CJK SC"/>
              </a:defRPr>
            </a:pPr>
            <a:r>
              <a:t>• VGGT confidence fusion</a:t>
            </a:r>
          </a:p>
          <a:p>
            <a:pPr>
              <a:spcAft>
                <a:spcPts val="1300"/>
              </a:spcAft>
              <a:defRPr sz="1350">
                <a:solidFill>
                  <a:srgbClr val="F0F5FA"/>
                </a:solidFill>
                <a:latin typeface="Noto Sans CJK SC"/>
              </a:defRPr>
            </a:pPr>
            <a:r>
              <a:t>• CFM + occupancy + silhouette + depth</a:t>
            </a:r>
          </a:p>
          <a:p>
            <a:pPr>
              <a:spcAft>
                <a:spcPts val="1300"/>
              </a:spcAft>
              <a:defRPr sz="1350">
                <a:solidFill>
                  <a:srgbClr val="F0F5FA"/>
                </a:solidFill>
                <a:latin typeface="Noto Sans CJK SC"/>
              </a:defRPr>
            </a:pPr>
            <a:r>
              <a:t>• 无有效 prior / surface 约束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4636008"/>
            <a:ext cx="3172968" cy="694944"/>
          </a:xfrm>
          <a:prstGeom prst="roundRect">
            <a:avLst/>
          </a:prstGeom>
          <a:solidFill>
            <a:srgbClr val="361E28"/>
          </a:solidFill>
          <a:ln>
            <a:solidFill>
              <a:srgbClr val="F25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4791456"/>
            <a:ext cx="2852928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25B68"/>
                </a:solidFill>
                <a:latin typeface="Noto Sans CJK SC"/>
              </a:rPr>
              <a:t>结果：SS 几何↑，CFM 与外观↓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416552" y="3182112"/>
            <a:ext cx="594360" cy="292608"/>
          </a:xfrm>
          <a:prstGeom prst="rightArrow">
            <a:avLst/>
          </a:prstGeom>
          <a:solidFill>
            <a:srgbClr val="3BCB85"/>
          </a:solidFill>
          <a:ln>
            <a:solidFill>
              <a:srgbClr val="3BC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25696" y="2807208"/>
            <a:ext cx="566928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00" b="1">
                <a:solidFill>
                  <a:srgbClr val="3BCB85"/>
                </a:solidFill>
                <a:latin typeface="Noto Sans CJK SC"/>
              </a:rPr>
              <a:t>重构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353312"/>
            <a:ext cx="6455664" cy="4443984"/>
          </a:xfrm>
          <a:prstGeom prst="roundRect">
            <a:avLst/>
          </a:prstGeom>
          <a:solidFill>
            <a:srgbClr val="121F32"/>
          </a:solidFill>
          <a:ln>
            <a:solidFill>
              <a:srgbClr val="3BC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68112" y="1554480"/>
            <a:ext cx="182880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3BCB85"/>
                </a:solidFill>
                <a:latin typeface="Noto Sans CJK SC"/>
              </a:rPr>
              <a:t>当前设计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68112" y="2103120"/>
            <a:ext cx="1371600" cy="1024128"/>
          </a:xfrm>
          <a:prstGeom prst="roundRect">
            <a:avLst/>
          </a:prstGeom>
          <a:solidFill>
            <a:srgbClr val="17283F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577840" y="2194560"/>
            <a:ext cx="1152144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38CDDD"/>
                </a:solidFill>
                <a:latin typeface="Noto Sans CJK SC"/>
              </a:rPr>
              <a:t>RGBD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2505456"/>
            <a:ext cx="1152144" cy="484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0">
                <a:solidFill>
                  <a:srgbClr val="F0F5FA"/>
                </a:solidFill>
                <a:latin typeface="Noto Sans CJK SC"/>
              </a:rPr>
              <a:t>精确帧索引
有效视图掩码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940296" y="2459736"/>
            <a:ext cx="310896" cy="292608"/>
          </a:xfrm>
          <a:prstGeom prst="rightArrow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60920" y="2103120"/>
            <a:ext cx="1517904" cy="1024128"/>
          </a:xfrm>
          <a:prstGeom prst="roundRect">
            <a:avLst/>
          </a:prstGeom>
          <a:solidFill>
            <a:srgbClr val="17283F"/>
          </a:solidFill>
          <a:ln>
            <a:solidFill>
              <a:srgbClr val="4A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0648" y="2194560"/>
            <a:ext cx="1298448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4A8BFF"/>
                </a:solidFill>
                <a:latin typeface="Noto Sans CJK SC"/>
              </a:rPr>
              <a:t>16³ 条件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0648" y="2505456"/>
            <a:ext cx="1298448" cy="484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0">
                <a:solidFill>
                  <a:srgbClr val="F0F5FA"/>
                </a:solidFill>
                <a:latin typeface="Noto Sans CJK SC"/>
              </a:rPr>
              <a:t>DINO voxel 平均
+ 3D PE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979408" y="2459736"/>
            <a:ext cx="310896" cy="292608"/>
          </a:xfrm>
          <a:prstGeom prst="rightArrow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400032" y="2103120"/>
            <a:ext cx="1700784" cy="1024128"/>
          </a:xfrm>
          <a:prstGeom prst="roundRect">
            <a:avLst/>
          </a:prstGeom>
          <a:solidFill>
            <a:srgbClr val="17283F"/>
          </a:solidFill>
          <a:ln>
            <a:solidFill>
              <a:srgbClr val="3BC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59" y="2194560"/>
            <a:ext cx="1481328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3BCB85"/>
                </a:solidFill>
                <a:latin typeface="Noto Sans CJK SC"/>
              </a:rPr>
              <a:t>官方 SS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59" y="2505456"/>
            <a:ext cx="1481328" cy="484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0">
                <a:solidFill>
                  <a:srgbClr val="F0F5FA"/>
                </a:solidFill>
                <a:latin typeface="Noto Sans CJK SC"/>
              </a:rPr>
              <a:t>768 × 12
全参数更新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3712463"/>
            <a:ext cx="5669280" cy="1335024"/>
          </a:xfrm>
          <a:prstGeom prst="rect">
            <a:avLst/>
          </a:prstGeom>
          <a:noFill/>
        </p:spPr>
        <p:txBody>
          <a:bodyPr wrap="square" lIns="73152" rIns="54864" tIns="54864">
            <a:spAutoFit/>
          </a:bodyPr>
          <a:lstStyle/>
          <a:p>
            <a:pPr>
              <a:spcAft>
                <a:spcPts val="1100"/>
              </a:spcAft>
              <a:defRPr sz="1350">
                <a:solidFill>
                  <a:srgbClr val="F0F5FA"/>
                </a:solidFill>
                <a:latin typeface="Noto Sans CJK SC"/>
              </a:defRPr>
            </a:pPr>
            <a:r>
              <a:t>• DINO 冻结；SS Flow 全量训练（非 Adapter / LoRA）</a:t>
            </a:r>
          </a:p>
          <a:p>
            <a:pPr>
              <a:spcAft>
                <a:spcPts val="1100"/>
              </a:spcAft>
              <a:defRPr sz="1350">
                <a:solidFill>
                  <a:srgbClr val="F0F5FA"/>
                </a:solidFill>
                <a:latin typeface="Noto Sans CJK SC"/>
              </a:defRPr>
            </a:pPr>
            <a:r>
              <a:t>• 严格 CFM-MSE：学习 latent velocity，而非追逐 occupancy</a:t>
            </a:r>
          </a:p>
          <a:p>
            <a:pPr>
              <a:spcAft>
                <a:spcPts val="1100"/>
              </a:spcAft>
              <a:defRPr sz="1350">
                <a:solidFill>
                  <a:srgbClr val="F0F5FA"/>
                </a:solidFill>
                <a:latin typeface="Noto Sans CJK SC"/>
              </a:defRPr>
            </a:pPr>
            <a:r>
              <a:t>• EMA + DDP + 混合精度 + gradient checkpointing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0" y="5120640"/>
            <a:ext cx="5669280" cy="384048"/>
          </a:xfrm>
          <a:prstGeom prst="roundRect">
            <a:avLst/>
          </a:prstGeom>
          <a:solidFill>
            <a:srgbClr val="1B3F37"/>
          </a:solidFill>
          <a:ln>
            <a:solidFill>
              <a:srgbClr val="3BC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41848" y="5148072"/>
            <a:ext cx="5358384" cy="28346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300" b="1">
                <a:solidFill>
                  <a:srgbClr val="3BCB85"/>
                </a:solidFill>
                <a:latin typeface="Noto Sans CJK SC"/>
              </a:rPr>
              <a:t>核心改进：模型拓扑、条件注入、优化目标三者重新对齐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" y="6537960"/>
            <a:ext cx="77724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9AABBE"/>
                </a:solidFill>
                <a:latin typeface="Noto Sans CJK SC"/>
              </a:rPr>
              <a:t>SS Flow · SLat Flow · VGGT + TRELLIS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54864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38CDDD"/>
                </a:solidFill>
                <a:latin typeface="Noto Sans CJK SC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19456"/>
            <a:ext cx="1069848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F0F5FA"/>
                </a:solidFill>
                <a:latin typeface="Noto Sans CJK SC"/>
              </a:rPr>
              <a:t>SLat 阶段：从覆盖先验，改为可信区域残差修正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713232"/>
            <a:ext cx="106070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50" b="0">
                <a:solidFill>
                  <a:srgbClr val="9AABBE"/>
                </a:solidFill>
                <a:latin typeface="Noto Sans CJK SC"/>
              </a:rPr>
              <a:t>目标：增强多视图几何条件，同时限制 TRELLIS 分布漂移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42415"/>
            <a:ext cx="11292840" cy="22860"/>
          </a:xfrm>
          <a:prstGeom prst="rect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054096" cy="4535424"/>
          </a:xfrm>
          <a:prstGeom prst="roundRect">
            <a:avLst/>
          </a:prstGeom>
          <a:solidFill>
            <a:srgbClr val="121F32"/>
          </a:solidFill>
          <a:ln>
            <a:solidFill>
              <a:srgbClr val="F25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581912"/>
            <a:ext cx="100584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F25B68"/>
                </a:solidFill>
                <a:latin typeface="Noto Sans CJK SC"/>
              </a:rPr>
              <a:t>旧版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084831"/>
            <a:ext cx="2542032" cy="2075688"/>
          </a:xfrm>
          <a:prstGeom prst="rect">
            <a:avLst/>
          </a:prstGeom>
          <a:noFill/>
        </p:spPr>
        <p:txBody>
          <a:bodyPr wrap="square" lIns="73152" rIns="54864" tIns="54864">
            <a:spAutoFit/>
          </a:bodyPr>
          <a:lstStyle/>
          <a:p>
            <a:pPr>
              <a:spcAft>
                <a:spcPts val="1300"/>
              </a:spcAft>
              <a:defRPr sz="1350">
                <a:solidFill>
                  <a:srgbClr val="F0F5FA"/>
                </a:solidFill>
                <a:latin typeface="Noto Sans CJK SC"/>
              </a:defRPr>
            </a:pPr>
            <a:r>
              <a:t>• 原生 TRELLIS SLat 全骨干更新</a:t>
            </a:r>
          </a:p>
          <a:p>
            <a:pPr>
              <a:spcAft>
                <a:spcPts val="1300"/>
              </a:spcAft>
              <a:defRPr sz="1350">
                <a:solidFill>
                  <a:srgbClr val="F0F5FA"/>
                </a:solidFill>
                <a:latin typeface="Noto Sans CJK SC"/>
              </a:defRPr>
            </a:pPr>
            <a:r>
              <a:t>• 训练使用 GT support</a:t>
            </a:r>
          </a:p>
          <a:p>
            <a:pPr>
              <a:spcAft>
                <a:spcPts val="1300"/>
              </a:spcAft>
              <a:defRPr sz="1350">
                <a:solidFill>
                  <a:srgbClr val="F0F5FA"/>
                </a:solidFill>
                <a:latin typeface="Noto Sans CJK SC"/>
              </a:defRPr>
            </a:pPr>
            <a:r>
              <a:t>• 推理使用预测 SS support</a:t>
            </a:r>
          </a:p>
          <a:p>
            <a:pPr>
              <a:spcAft>
                <a:spcPts val="1300"/>
              </a:spcAft>
              <a:defRPr sz="1350">
                <a:solidFill>
                  <a:srgbClr val="F0F5FA"/>
                </a:solidFill>
                <a:latin typeface="Noto Sans CJK SC"/>
              </a:defRPr>
            </a:pPr>
            <a:r>
              <a:t>• 置信度接近 0</a:t>
            </a:r>
          </a:p>
          <a:p>
            <a:pPr>
              <a:spcAft>
                <a:spcPts val="1300"/>
              </a:spcAft>
              <a:defRPr sz="1350">
                <a:solidFill>
                  <a:srgbClr val="F0F5FA"/>
                </a:solidFill>
                <a:latin typeface="Noto Sans CJK SC"/>
              </a:defRPr>
            </a:pPr>
            <a:r>
              <a:t>• 1000 step / global batch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4599432"/>
            <a:ext cx="2542032" cy="749808"/>
          </a:xfrm>
          <a:prstGeom prst="roundRect">
            <a:avLst/>
          </a:prstGeom>
          <a:solidFill>
            <a:srgbClr val="361E28"/>
          </a:solidFill>
          <a:ln>
            <a:solidFill>
              <a:srgbClr val="F25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4663440"/>
            <a:ext cx="2139696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F25B68"/>
                </a:solidFill>
                <a:latin typeface="Noto Sans CJK SC"/>
              </a:rPr>
              <a:t>先验遗忘 +
SS→SLat 分布错配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730752" y="3264408"/>
            <a:ext cx="512064" cy="292608"/>
          </a:xfrm>
          <a:prstGeom prst="rightArrow">
            <a:avLst/>
          </a:prstGeom>
          <a:solidFill>
            <a:srgbClr val="3BCB85"/>
          </a:solidFill>
          <a:ln>
            <a:solidFill>
              <a:srgbClr val="3BC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25696" y="1371600"/>
            <a:ext cx="7242048" cy="4535424"/>
          </a:xfrm>
          <a:prstGeom prst="roundRect">
            <a:avLst/>
          </a:prstGeom>
          <a:solidFill>
            <a:srgbClr val="121F32"/>
          </a:solidFill>
          <a:ln>
            <a:solidFill>
              <a:srgbClr val="A67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8" y="1581912"/>
            <a:ext cx="141732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800" b="1">
                <a:solidFill>
                  <a:srgbClr val="A671FF"/>
                </a:solidFill>
                <a:latin typeface="Noto Sans CJK SC"/>
              </a:rPr>
              <a:t>当前设计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0016" y="2103120"/>
            <a:ext cx="1335024" cy="1024128"/>
          </a:xfrm>
          <a:prstGeom prst="roundRect">
            <a:avLst/>
          </a:prstGeom>
          <a:solidFill>
            <a:srgbClr val="17283F"/>
          </a:solidFill>
          <a:ln>
            <a:solidFill>
              <a:srgbClr val="3BC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9744" y="2194560"/>
            <a:ext cx="1115568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3BCB85"/>
                </a:solidFill>
                <a:latin typeface="Noto Sans CJK SC"/>
              </a:rPr>
              <a:t>active voxel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9744" y="2505456"/>
            <a:ext cx="1115568" cy="484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0">
                <a:solidFill>
                  <a:srgbClr val="F0F5FA"/>
                </a:solidFill>
                <a:latin typeface="Noto Sans CJK SC"/>
              </a:rPr>
              <a:t>SS support
64³ 坐标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126480" y="2459736"/>
            <a:ext cx="283464" cy="292608"/>
          </a:xfrm>
          <a:prstGeom prst="rightArrow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0" y="2103120"/>
            <a:ext cx="1389888" cy="1024128"/>
          </a:xfrm>
          <a:prstGeom prst="roundRect">
            <a:avLst/>
          </a:prstGeom>
          <a:solidFill>
            <a:srgbClr val="17283F"/>
          </a:solidFill>
          <a:ln>
            <a:solidFill>
              <a:srgbClr val="4A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2194560"/>
            <a:ext cx="1170432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4A8BFF"/>
                </a:solidFill>
                <a:latin typeface="Noto Sans CJK SC"/>
              </a:rPr>
              <a:t>像素对齐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2505456"/>
            <a:ext cx="1170432" cy="484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0">
                <a:solidFill>
                  <a:srgbClr val="F0F5FA"/>
                </a:solidFill>
                <a:latin typeface="Noto Sans CJK SC"/>
              </a:rPr>
              <a:t>high DINO
+ low RGB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973568" y="2459736"/>
            <a:ext cx="283464" cy="292608"/>
          </a:xfrm>
          <a:prstGeom prst="rightArrow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39327" y="2103120"/>
            <a:ext cx="1600200" cy="1024128"/>
          </a:xfrm>
          <a:prstGeom prst="roundRect">
            <a:avLst/>
          </a:prstGeom>
          <a:solidFill>
            <a:srgbClr val="17283F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49055" y="2194560"/>
            <a:ext cx="1380744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38CDDD"/>
                </a:solidFill>
                <a:latin typeface="Noto Sans CJK SC"/>
              </a:rPr>
              <a:t>可信融合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5" y="2505456"/>
            <a:ext cx="1380744" cy="484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0">
                <a:solidFill>
                  <a:srgbClr val="F0F5FA"/>
                </a:solidFill>
                <a:latin typeface="Noto Sans CJK SC"/>
              </a:rPr>
              <a:t>confidence × mask
× depth × angle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0030968" y="2459736"/>
            <a:ext cx="283464" cy="292608"/>
          </a:xfrm>
          <a:prstGeom prst="rightArrow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396728" y="2103120"/>
            <a:ext cx="1024128" cy="1024128"/>
          </a:xfrm>
          <a:prstGeom prst="roundRect">
            <a:avLst/>
          </a:prstGeom>
          <a:solidFill>
            <a:srgbClr val="17283F"/>
          </a:solidFill>
          <a:ln>
            <a:solidFill>
              <a:srgbClr val="A67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06455" y="2194560"/>
            <a:ext cx="804672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A671FF"/>
                </a:solidFill>
                <a:latin typeface="Noto Sans CJK SC"/>
              </a:rPr>
              <a:t>残差流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06455" y="2505456"/>
            <a:ext cx="804672" cy="4846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050" b="0">
                <a:solidFill>
                  <a:srgbClr val="F0F5FA"/>
                </a:solidFill>
                <a:latin typeface="Noto Sans CJK SC"/>
              </a:rPr>
              <a:t>768 × 12
Δv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00016" y="3685032"/>
            <a:ext cx="6720840" cy="804672"/>
          </a:xfrm>
          <a:prstGeom prst="roundRect">
            <a:avLst/>
          </a:prstGeom>
          <a:solidFill>
            <a:srgbClr val="17283F"/>
          </a:solidFill>
          <a:ln>
            <a:solidFill>
              <a:srgbClr val="A67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19472" y="3840480"/>
            <a:ext cx="628192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>
                <a:solidFill>
                  <a:srgbClr val="F0F5FA"/>
                </a:solidFill>
                <a:latin typeface="Noto Sans CJK SC"/>
              </a:rPr>
              <a:t>vfinal = vfrozen + confidence · limit · tanh(Δvraw / limit)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36592" y="4727448"/>
            <a:ext cx="6537960" cy="822960"/>
          </a:xfrm>
          <a:prstGeom prst="rect">
            <a:avLst/>
          </a:prstGeom>
          <a:noFill/>
        </p:spPr>
        <p:txBody>
          <a:bodyPr wrap="square" lIns="73152" rIns="54864" tIns="54864">
            <a:spAutoFit/>
          </a:bodyPr>
          <a:lstStyle/>
          <a:p>
            <a:pPr>
              <a:spcAft>
                <a:spcPts val="800"/>
              </a:spcAft>
              <a:defRPr sz="1330">
                <a:solidFill>
                  <a:srgbClr val="F0F5FA"/>
                </a:solidFill>
                <a:latin typeface="Noto Sans CJK SC"/>
              </a:defRPr>
            </a:pPr>
            <a:r>
              <a:t>• 冻结 native TRELLIS；只训练独立 sparse residual flow + conditioner</a:t>
            </a:r>
          </a:p>
          <a:p>
            <a:pPr>
              <a:spcAft>
                <a:spcPts val="800"/>
              </a:spcAft>
              <a:defRPr sz="1330">
                <a:solidFill>
                  <a:srgbClr val="F0F5FA"/>
                </a:solidFill>
                <a:latin typeface="Noto Sans CJK SC"/>
              </a:defRPr>
            </a:pPr>
            <a:r>
              <a:t>• flow / endpoint / low-confidence prior / decoded asset 联合监督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" y="6537960"/>
            <a:ext cx="77724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9AABBE"/>
                </a:solidFill>
                <a:latin typeface="Noto Sans CJK SC"/>
              </a:rPr>
              <a:t>SS Flow · SLat Flow · VGGT + TRELLIS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54864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38CDDD"/>
                </a:solidFill>
                <a:latin typeface="Noto Sans CJK SC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19456"/>
            <a:ext cx="1069848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F0F5FA"/>
                </a:solidFill>
                <a:latin typeface="Noto Sans CJK SC"/>
              </a:rPr>
              <a:t>旧检查点评估：几何改善，但外观与轮廓系统性退化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713232"/>
            <a:ext cx="106070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50" b="0">
                <a:solidFill>
                  <a:srgbClr val="9AABBE"/>
                </a:solidFill>
                <a:latin typeface="Noto Sans CJK SC"/>
              </a:rPr>
              <a:t>251/251 对象完成；8 条件视图 + 12 不重叠 held-out 视图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42415"/>
            <a:ext cx="11292840" cy="22860"/>
          </a:xfrm>
          <a:prstGeom prst="rect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271016"/>
            <a:ext cx="11173968" cy="384048"/>
          </a:xfrm>
          <a:prstGeom prst="roundRect">
            <a:avLst/>
          </a:prstGeom>
          <a:solidFill>
            <a:srgbClr val="372B1C"/>
          </a:solidFill>
          <a:ln>
            <a:solidFill>
              <a:srgbClr val="F5A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307592"/>
            <a:ext cx="10853928" cy="2743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50" b="1">
                <a:solidFill>
                  <a:srgbClr val="F5A637"/>
                </a:solidFill>
                <a:latin typeface="Noto Sans CJK SC"/>
              </a:rPr>
              <a:t>注意：本页评估的是旧版 SS/SLat 检查点，不是当前重构模型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83080"/>
            <a:ext cx="21945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50" b="1">
                <a:solidFill>
                  <a:srgbClr val="38CDDD"/>
                </a:solidFill>
                <a:latin typeface="Noto Sans CJK SC"/>
              </a:rPr>
              <a:t>指标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1783080"/>
            <a:ext cx="15087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50" b="1">
                <a:solidFill>
                  <a:srgbClr val="38CDDD"/>
                </a:solidFill>
                <a:latin typeface="Noto Sans CJK SC"/>
              </a:rPr>
              <a:t>原始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783080"/>
            <a:ext cx="15087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50" b="1">
                <a:solidFill>
                  <a:srgbClr val="38CDDD"/>
                </a:solidFill>
                <a:latin typeface="Noto Sans CJK SC"/>
              </a:rPr>
              <a:t>SLat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783080"/>
            <a:ext cx="15087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50" b="1">
                <a:solidFill>
                  <a:srgbClr val="38CDDD"/>
                </a:solidFill>
                <a:latin typeface="Noto Sans CJK SC"/>
              </a:rPr>
              <a:t>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1783080"/>
            <a:ext cx="1508760" cy="3657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50" b="1">
                <a:solidFill>
                  <a:srgbClr val="38CDDD"/>
                </a:solidFill>
                <a:latin typeface="Noto Sans CJK SC"/>
              </a:rPr>
              <a:t>SS+SLat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194560"/>
            <a:ext cx="214884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F0F5FA"/>
                </a:solidFill>
                <a:latin typeface="Noto Sans CJK SC"/>
              </a:rPr>
              <a:t>PSNR 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194560"/>
            <a:ext cx="132588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50" b="1">
                <a:solidFill>
                  <a:srgbClr val="3BCB85"/>
                </a:solidFill>
                <a:latin typeface="Noto Sans CJK SC"/>
              </a:rPr>
              <a:t>25.330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2194560"/>
            <a:ext cx="132588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50" b="0">
                <a:solidFill>
                  <a:srgbClr val="F0F5FA"/>
                </a:solidFill>
                <a:latin typeface="Noto Sans CJK SC"/>
              </a:rPr>
              <a:t>17.953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194560"/>
            <a:ext cx="132588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50" b="0">
                <a:solidFill>
                  <a:srgbClr val="F0F5FA"/>
                </a:solidFill>
                <a:latin typeface="Noto Sans CJK SC"/>
              </a:rPr>
              <a:t>18.715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2194560"/>
            <a:ext cx="132588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50" b="0">
                <a:solidFill>
                  <a:srgbClr val="F0F5FA"/>
                </a:solidFill>
                <a:latin typeface="Noto Sans CJK SC"/>
              </a:rPr>
              <a:t>15.105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2578608"/>
            <a:ext cx="214884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F0F5FA"/>
                </a:solidFill>
                <a:latin typeface="Noto Sans CJK SC"/>
              </a:rPr>
              <a:t>LPIPS 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2578608"/>
            <a:ext cx="132588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50" b="1">
                <a:solidFill>
                  <a:srgbClr val="3BCB85"/>
                </a:solidFill>
                <a:latin typeface="Noto Sans CJK SC"/>
              </a:rPr>
              <a:t>0.041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2578608"/>
            <a:ext cx="132588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50" b="0">
                <a:solidFill>
                  <a:srgbClr val="F0F5FA"/>
                </a:solidFill>
                <a:latin typeface="Noto Sans CJK SC"/>
              </a:rPr>
              <a:t>0.076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2578608"/>
            <a:ext cx="132588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50" b="0">
                <a:solidFill>
                  <a:srgbClr val="F0F5FA"/>
                </a:solidFill>
                <a:latin typeface="Noto Sans CJK SC"/>
              </a:rPr>
              <a:t>0.116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2578608"/>
            <a:ext cx="132588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50" b="0">
                <a:solidFill>
                  <a:srgbClr val="F0F5FA"/>
                </a:solidFill>
                <a:latin typeface="Noto Sans CJK SC"/>
              </a:rPr>
              <a:t>0.172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962656"/>
            <a:ext cx="214884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F0F5FA"/>
                </a:solidFill>
                <a:latin typeface="Noto Sans CJK SC"/>
              </a:rPr>
              <a:t>前景 PSNR 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2962656"/>
            <a:ext cx="132588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50" b="1">
                <a:solidFill>
                  <a:srgbClr val="3BCB85"/>
                </a:solidFill>
                <a:latin typeface="Noto Sans CJK SC"/>
              </a:rPr>
              <a:t>17.996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2962656"/>
            <a:ext cx="132588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50" b="0">
                <a:solidFill>
                  <a:srgbClr val="F0F5FA"/>
                </a:solidFill>
                <a:latin typeface="Noto Sans CJK SC"/>
              </a:rPr>
              <a:t>10.087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2962656"/>
            <a:ext cx="132588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50" b="0">
                <a:solidFill>
                  <a:srgbClr val="F0F5FA"/>
                </a:solidFill>
                <a:latin typeface="Noto Sans CJK SC"/>
              </a:rPr>
              <a:t>11.212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2962656"/>
            <a:ext cx="132588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50" b="0">
                <a:solidFill>
                  <a:srgbClr val="F0F5FA"/>
                </a:solidFill>
                <a:latin typeface="Noto Sans CJK SC"/>
              </a:rPr>
              <a:t>8.197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3346704"/>
            <a:ext cx="214884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F0F5FA"/>
                </a:solidFill>
                <a:latin typeface="Noto Sans CJK SC"/>
              </a:rPr>
              <a:t>Mask IoU 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3346704"/>
            <a:ext cx="132588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50" b="1">
                <a:solidFill>
                  <a:srgbClr val="3BCB85"/>
                </a:solidFill>
                <a:latin typeface="Noto Sans CJK SC"/>
              </a:rPr>
              <a:t>0.891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80" y="3346704"/>
            <a:ext cx="132588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50" b="0">
                <a:solidFill>
                  <a:srgbClr val="F0F5FA"/>
                </a:solidFill>
                <a:latin typeface="Noto Sans CJK SC"/>
              </a:rPr>
              <a:t>0.885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3346704"/>
            <a:ext cx="132588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50" b="0">
                <a:solidFill>
                  <a:srgbClr val="F0F5FA"/>
                </a:solidFill>
                <a:latin typeface="Noto Sans CJK SC"/>
              </a:rPr>
              <a:t>0.636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3346704"/>
            <a:ext cx="132588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50" b="0">
                <a:solidFill>
                  <a:srgbClr val="F0F5FA"/>
                </a:solidFill>
                <a:latin typeface="Noto Sans CJK SC"/>
              </a:rPr>
              <a:t>0.583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3730752"/>
            <a:ext cx="214884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F0F5FA"/>
                </a:solidFill>
                <a:latin typeface="Noto Sans CJK SC"/>
              </a:rPr>
              <a:t>Asset CD 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3730752"/>
            <a:ext cx="132588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50" b="0">
                <a:solidFill>
                  <a:srgbClr val="F0F5FA"/>
                </a:solidFill>
                <a:latin typeface="Noto Sans CJK SC"/>
              </a:rPr>
              <a:t>0.145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83480" y="3730752"/>
            <a:ext cx="132588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50" b="0">
                <a:solidFill>
                  <a:srgbClr val="F0F5FA"/>
                </a:solidFill>
                <a:latin typeface="Noto Sans CJK SC"/>
              </a:rPr>
              <a:t>0.143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3730752"/>
            <a:ext cx="132588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50" b="1">
                <a:solidFill>
                  <a:srgbClr val="3BCB85"/>
                </a:solidFill>
                <a:latin typeface="Noto Sans CJK SC"/>
              </a:rPr>
              <a:t>0.123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3730752"/>
            <a:ext cx="132588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50" b="0">
                <a:solidFill>
                  <a:srgbClr val="F0F5FA"/>
                </a:solidFill>
                <a:latin typeface="Noto Sans CJK SC"/>
              </a:rPr>
              <a:t>0.125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4114800"/>
            <a:ext cx="214884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>
                <a:solidFill>
                  <a:srgbClr val="F0F5FA"/>
                </a:solidFill>
                <a:latin typeface="Noto Sans CJK SC"/>
              </a:rPr>
              <a:t>SS IoU ↑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71800" y="4114800"/>
            <a:ext cx="132588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50" b="0">
                <a:solidFill>
                  <a:srgbClr val="F0F5FA"/>
                </a:solidFill>
                <a:latin typeface="Noto Sans CJK SC"/>
              </a:rPr>
              <a:t>0.120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83480" y="4114800"/>
            <a:ext cx="132588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50" b="0">
                <a:solidFill>
                  <a:srgbClr val="F0F5FA"/>
                </a:solidFill>
                <a:latin typeface="Noto Sans CJK SC"/>
              </a:rPr>
              <a:t>0.120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4114800"/>
            <a:ext cx="132588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50" b="1">
                <a:solidFill>
                  <a:srgbClr val="3BCB85"/>
                </a:solidFill>
                <a:latin typeface="Noto Sans CJK SC"/>
              </a:rPr>
              <a:t>0.324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4114800"/>
            <a:ext cx="132588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50" b="1">
                <a:solidFill>
                  <a:srgbClr val="3BCB85"/>
                </a:solidFill>
                <a:latin typeface="Noto Sans CJK SC"/>
              </a:rPr>
              <a:t>0.324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4681728"/>
            <a:ext cx="3401568" cy="1060704"/>
          </a:xfrm>
          <a:prstGeom prst="roundRect">
            <a:avLst/>
          </a:prstGeom>
          <a:solidFill>
            <a:srgbClr val="1A3F36"/>
          </a:solidFill>
          <a:ln>
            <a:solidFill>
              <a:srgbClr val="3BC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8952" y="4828032"/>
            <a:ext cx="3017520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3BCB85"/>
                </a:solidFill>
                <a:latin typeface="Noto Sans CJK SC"/>
              </a:rPr>
              <a:t>SS 的真实收益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" y="5138928"/>
            <a:ext cx="3017520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F0F5FA"/>
                </a:solidFill>
                <a:latin typeface="Noto Sans CJK SC"/>
              </a:rPr>
              <a:t>CD −15.2% · SS IoU +169%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24528" y="4681728"/>
            <a:ext cx="3419856" cy="1060704"/>
          </a:xfrm>
          <a:prstGeom prst="roundRect">
            <a:avLst/>
          </a:prstGeom>
          <a:solidFill>
            <a:srgbClr val="3E242A"/>
          </a:solidFill>
          <a:ln>
            <a:solidFill>
              <a:srgbClr val="F25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16552" y="4828032"/>
            <a:ext cx="3035808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F25B68"/>
                </a:solidFill>
                <a:latin typeface="Noto Sans CJK SC"/>
              </a:rPr>
              <a:t>外观退化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16552" y="5138928"/>
            <a:ext cx="3035808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F0F5FA"/>
                </a:solidFill>
                <a:latin typeface="Noto Sans CJK SC"/>
              </a:rPr>
              <a:t>SS+SLat：PSNR −10.22 dB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00416" y="4681728"/>
            <a:ext cx="3410712" cy="1060704"/>
          </a:xfrm>
          <a:prstGeom prst="roundRect">
            <a:avLst/>
          </a:prstGeom>
          <a:solidFill>
            <a:srgbClr val="372B1C"/>
          </a:solidFill>
          <a:ln>
            <a:solidFill>
              <a:srgbClr val="F5A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92440" y="4828032"/>
            <a:ext cx="3026664" cy="25603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400" b="1">
                <a:solidFill>
                  <a:srgbClr val="F5A637"/>
                </a:solidFill>
                <a:latin typeface="Noto Sans CJK SC"/>
              </a:rPr>
              <a:t>联合未形成互补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92440" y="5138928"/>
            <a:ext cx="3026664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500" b="1">
                <a:solidFill>
                  <a:srgbClr val="F0F5FA"/>
                </a:solidFill>
                <a:latin typeface="Noto Sans CJK SC"/>
              </a:rPr>
              <a:t>SS+SLat 比 SS-only 更差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8912" y="6537960"/>
            <a:ext cx="77724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9AABBE"/>
                </a:solidFill>
                <a:latin typeface="Noto Sans CJK SC"/>
              </a:rPr>
              <a:t>评估源：outputs/affostruction_evaluation/test/summary.json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54864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300" b="1">
                <a:solidFill>
                  <a:srgbClr val="38CDDD"/>
                </a:solidFill>
                <a:latin typeface="Noto Sans CJK SC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" y="219456"/>
            <a:ext cx="10698480" cy="53035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600" b="1">
                <a:solidFill>
                  <a:srgbClr val="F0F5FA"/>
                </a:solidFill>
                <a:latin typeface="Noto Sans CJK SC"/>
              </a:rPr>
              <a:t>下一步：先消除分布错配，再扩大训练规模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8408" y="713232"/>
            <a:ext cx="10607040" cy="2926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050" b="0">
                <a:solidFill>
                  <a:srgbClr val="9AABBE"/>
                </a:solidFill>
                <a:latin typeface="Noto Sans CJK SC"/>
              </a:rPr>
              <a:t>优化顺序比单纯增加 step / batch 更重要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042415"/>
            <a:ext cx="11292840" cy="22860"/>
          </a:xfrm>
          <a:prstGeom prst="rect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426464"/>
            <a:ext cx="2002536" cy="2002536"/>
          </a:xfrm>
          <a:prstGeom prst="roundRect">
            <a:avLst/>
          </a:prstGeom>
          <a:solidFill>
            <a:srgbClr val="121F32"/>
          </a:solidFill>
          <a:ln>
            <a:solidFill>
              <a:srgbClr val="3BC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1581912"/>
            <a:ext cx="384048" cy="384048"/>
          </a:xfrm>
          <a:prstGeom prst="roundRect">
            <a:avLst/>
          </a:prstGeom>
          <a:solidFill>
            <a:srgbClr val="3BCB85"/>
          </a:solidFill>
          <a:ln>
            <a:solidFill>
              <a:srgbClr val="3BCB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91056"/>
            <a:ext cx="36576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91220"/>
                </a:solidFill>
                <a:latin typeface="Noto Sans CJK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084831"/>
            <a:ext cx="166420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3BCB85"/>
                </a:solidFill>
                <a:latin typeface="Noto Sans CJK SC"/>
              </a:rPr>
              <a:t>重训新架构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1719072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20" b="0">
                <a:solidFill>
                  <a:srgbClr val="F0F5FA"/>
                </a:solidFill>
                <a:latin typeface="Noto Sans CJK SC"/>
              </a:rPr>
              <a:t>旧 checkpoint 不续训
官方 SS + 冻结残差 SLat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70632" y="1426464"/>
            <a:ext cx="2002536" cy="2002536"/>
          </a:xfrm>
          <a:prstGeom prst="roundRect">
            <a:avLst/>
          </a:prstGeom>
          <a:solidFill>
            <a:srgbClr val="121F32"/>
          </a:solidFill>
          <a:ln>
            <a:solidFill>
              <a:srgbClr val="4A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16936" y="1581912"/>
            <a:ext cx="384048" cy="384048"/>
          </a:xfrm>
          <a:prstGeom prst="roundRect">
            <a:avLst/>
          </a:prstGeom>
          <a:solidFill>
            <a:srgbClr val="4A8BFF"/>
          </a:solidFill>
          <a:ln>
            <a:solidFill>
              <a:srgbClr val="4A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591056"/>
            <a:ext cx="36576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91220"/>
                </a:solidFill>
                <a:latin typeface="Noto Sans CJK S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5224" y="2084831"/>
            <a:ext cx="166420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4A8BFF"/>
                </a:solidFill>
                <a:latin typeface="Noto Sans CJK SC"/>
              </a:rPr>
              <a:t>对齐支持分布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7792" y="2514600"/>
            <a:ext cx="1719072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20" b="0">
                <a:solidFill>
                  <a:srgbClr val="F0F5FA"/>
                </a:solidFill>
                <a:latin typeface="Noto Sans CJK SC"/>
              </a:rPr>
              <a:t>GT → 扰动 → 预测 SS
后期主要使用真实预测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38344" y="1426464"/>
            <a:ext cx="2002536" cy="2002536"/>
          </a:xfrm>
          <a:prstGeom prst="roundRect">
            <a:avLst/>
          </a:prstGeom>
          <a:solidFill>
            <a:srgbClr val="121F32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84648" y="1581912"/>
            <a:ext cx="384048" cy="384048"/>
          </a:xfrm>
          <a:prstGeom prst="roundRect">
            <a:avLst/>
          </a:prstGeom>
          <a:solidFill>
            <a:srgbClr val="38CDD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93792" y="1591056"/>
            <a:ext cx="36576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91220"/>
                </a:solidFill>
                <a:latin typeface="Noto Sans CJK S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02936" y="2084831"/>
            <a:ext cx="166420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38CDDD"/>
                </a:solidFill>
                <a:latin typeface="Noto Sans CJK SC"/>
              </a:rPr>
              <a:t>校准可信融合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75504" y="2514600"/>
            <a:ext cx="1719072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20" b="0">
                <a:solidFill>
                  <a:srgbClr val="F0F5FA"/>
                </a:solidFill>
                <a:latin typeface="Noto Sans CJK SC"/>
              </a:rPr>
              <a:t>逐项审计 camera / depth
避免 c×m×w 接近 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06055" y="1426464"/>
            <a:ext cx="2002536" cy="2002536"/>
          </a:xfrm>
          <a:prstGeom prst="roundRect">
            <a:avLst/>
          </a:prstGeom>
          <a:solidFill>
            <a:srgbClr val="121F32"/>
          </a:solidFill>
          <a:ln>
            <a:solidFill>
              <a:srgbClr val="A67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52359" y="1581912"/>
            <a:ext cx="384048" cy="384048"/>
          </a:xfrm>
          <a:prstGeom prst="roundRect">
            <a:avLst/>
          </a:prstGeom>
          <a:solidFill>
            <a:srgbClr val="A671FF"/>
          </a:solidFill>
          <a:ln>
            <a:solidFill>
              <a:srgbClr val="A671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61504" y="1591056"/>
            <a:ext cx="36576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91220"/>
                </a:solidFill>
                <a:latin typeface="Noto Sans CJK S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0648" y="2084831"/>
            <a:ext cx="166420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A671FF"/>
                </a:solidFill>
                <a:latin typeface="Noto Sans CJK SC"/>
              </a:rPr>
              <a:t>强化资产监督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3215" y="2514600"/>
            <a:ext cx="1719072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20" b="0">
                <a:solidFill>
                  <a:srgbClr val="F0F5FA"/>
                </a:solidFill>
                <a:latin typeface="Noto Sans CJK SC"/>
              </a:rPr>
              <a:t>4–8 view · foreground
LPIPS / DINO / mask / geometry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73768" y="1426464"/>
            <a:ext cx="2002536" cy="2002536"/>
          </a:xfrm>
          <a:prstGeom prst="roundRect">
            <a:avLst/>
          </a:prstGeom>
          <a:solidFill>
            <a:srgbClr val="121F32"/>
          </a:solidFill>
          <a:ln>
            <a:solidFill>
              <a:srgbClr val="F5A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720072" y="1581912"/>
            <a:ext cx="384048" cy="384048"/>
          </a:xfrm>
          <a:prstGeom prst="roundRect">
            <a:avLst/>
          </a:prstGeom>
          <a:solidFill>
            <a:srgbClr val="F5A637"/>
          </a:solidFill>
          <a:ln>
            <a:solidFill>
              <a:srgbClr val="F5A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29216" y="1591056"/>
            <a:ext cx="365760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>
                <a:solidFill>
                  <a:srgbClr val="091220"/>
                </a:solidFill>
                <a:latin typeface="Noto Sans CJK SC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60" y="2084831"/>
            <a:ext cx="1664208" cy="347472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F5A637"/>
                </a:solidFill>
                <a:latin typeface="Noto Sans CJK SC"/>
              </a:rPr>
              <a:t>科学选择模型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0928" y="2514600"/>
            <a:ext cx="1719072" cy="6400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120" b="0">
                <a:solidFill>
                  <a:srgbClr val="F0F5FA"/>
                </a:solidFill>
                <a:latin typeface="Noto Sans CJK SC"/>
              </a:rPr>
              <a:t>EMA / best / last 全评估
多目标验证 + 配对显著性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849624"/>
            <a:ext cx="11173968" cy="1700784"/>
          </a:xfrm>
          <a:prstGeom prst="roundRect">
            <a:avLst/>
          </a:prstGeom>
          <a:solidFill>
            <a:srgbClr val="17283F"/>
          </a:solidFill>
          <a:ln>
            <a:solidFill>
              <a:srgbClr val="172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4059936"/>
            <a:ext cx="1298448" cy="31089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700" b="1">
                <a:solidFill>
                  <a:srgbClr val="F0F5FA"/>
                </a:solidFill>
                <a:latin typeface="Noto Sans CJK SC"/>
              </a:rPr>
              <a:t>验收门槛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84831" y="4005072"/>
            <a:ext cx="9098280" cy="1234440"/>
          </a:xfrm>
          <a:prstGeom prst="rect">
            <a:avLst/>
          </a:prstGeom>
          <a:noFill/>
        </p:spPr>
        <p:txBody>
          <a:bodyPr wrap="square" lIns="73152" rIns="54864" tIns="54864">
            <a:spAutoFit/>
          </a:bodyPr>
          <a:lstStyle/>
          <a:p>
            <a:pPr>
              <a:spcAft>
                <a:spcPts val="900"/>
              </a:spcAft>
              <a:defRPr sz="1350">
                <a:solidFill>
                  <a:srgbClr val="F0F5FA"/>
                </a:solidFill>
                <a:latin typeface="Noto Sans CJK SC"/>
              </a:defRPr>
            </a:pPr>
            <a:r>
              <a:t>• SLat-only 必须在对应 baseline 上改善或保持前景 PSNR / LPIPS</a:t>
            </a:r>
          </a:p>
          <a:p>
            <a:pPr>
              <a:spcAft>
                <a:spcPts val="900"/>
              </a:spcAft>
              <a:defRPr sz="1350">
                <a:solidFill>
                  <a:srgbClr val="F0F5FA"/>
                </a:solidFill>
                <a:latin typeface="Noto Sans CJK SC"/>
              </a:defRPr>
            </a:pPr>
            <a:r>
              <a:t>• SS+SLat 必须显著优于 SS-only，而不仅仅优于原始 TRELLIS</a:t>
            </a:r>
          </a:p>
          <a:p>
            <a:pPr>
              <a:spcAft>
                <a:spcPts val="900"/>
              </a:spcAft>
              <a:defRPr sz="1350">
                <a:solidFill>
                  <a:srgbClr val="F0F5FA"/>
                </a:solidFill>
                <a:latin typeface="Noto Sans CJK SC"/>
              </a:defRPr>
            </a:pPr>
            <a:r>
              <a:t>• 完整验证集选择 checkpoint；报告均值、置信区间、win rate 与多随机种子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733288"/>
            <a:ext cx="11173968" cy="512064"/>
          </a:xfrm>
          <a:prstGeom prst="roundRect">
            <a:avLst/>
          </a:prstGeom>
          <a:solidFill>
            <a:srgbClr val="17393D"/>
          </a:solidFill>
          <a:ln>
            <a:solidFill>
              <a:srgbClr val="38C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5806440"/>
            <a:ext cx="10762488" cy="329184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500" b="1">
                <a:solidFill>
                  <a:srgbClr val="38CDDD"/>
                </a:solidFill>
                <a:latin typeface="Noto Sans CJK SC"/>
              </a:rPr>
              <a:t>成功标准：几何收益保留，同时恢复 TRELLIS 的外观先验与新视角一致性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" y="6537960"/>
            <a:ext cx="7772400" cy="18288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0">
                <a:solidFill>
                  <a:srgbClr val="9AABBE"/>
                </a:solidFill>
                <a:latin typeface="Noto Sans CJK SC"/>
              </a:rPr>
              <a:t>SS Flow · SLat Flow · VGGT + TRELLIS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