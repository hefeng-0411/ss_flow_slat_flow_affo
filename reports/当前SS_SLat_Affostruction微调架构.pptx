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本页给出整体架构的核心定位。项目由两个阶段组成：SS 负责生成稀疏结构支撑，SLat 负责在支撑坐标上生成外观和局部几何属性。在 VGGT 加 TRELLIS 基础上，系统加入 Affostruction 官方 SS 全量条件流，以及冻结 TRELLIS 原生 SLat 先验的像素对齐残差流。整个设计的目标是把可观测几何注入模型，同时尽量不破坏 TRELLIS 的生成分布。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端到端流程可以压缩为五步。第一步读取严格按 frame ID 对齐的稀疏多视图数据。第二步由 VGGT 提供相机、深度、点图和置信度，DINO 提供语义特征。第三步 SS 在 16 立方网格上生成 active support。第四步 SLat 把这些 active voxel 投影回所有输入视图，采样语义与纹理特征并融合，然后仅预测相对原始 TRELLIS 的速度残差。第五步由 TRELLIS 解码器生成 Gaussian 和 mesh。这个分工避免让一个模块同时承担拓扑、材质和多视图一致性。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 阶段是在 VGGT 几何输出与 TRELLIS 稀疏结构生成之间加入显式三维条件。输入图像先经过冻结 DINO，得到一千零二十四维 patch token；对应深度和相机把像素反投影到 canonical 三维空间，并量化到十六立方 voxel。同一 voxel 内先聚合像素，再跨有效视图平均，之后进行 LayerNorm 并加入三维位置编码。紧凑的已观测 voxel token 通过 cross-attention 注入 Affostruction 官方 SparseStructureFlowModel。该模型有十二个 block、hidden 七百六十八，全部参数参与微调，训练目标是条件流速度，推理通过 ODE 采样得到 active support。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SLat 阶段以 SS 给出的六十四立方 active voxel 为稀疏支撑。系统将每个 voxel 投影回所有有效相机，在对应像素同时采样高层 DINO 语义和浅层卷积提取的 RGB 纹理。每个视图的权重由 VGGT confidence、可见性、前景、深度一致性和入射角一致性共同决定，融合结果投影为一千零二十四维条件 token。一个独立的 Affostruction SLatFlowModel 根据这些条件预测速度残差。TRELLIS 原生 SLat flow 完全冻结，最终修正通过 tanh 限幅并乘以 voxel confidence，所以观测充分的位置得到几何和纹理校正，证据不足的位置保留 TRELLIS 先验。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这一页说明梯度到底更新谁。SS 的训练路径与 Affostruction 官方条件流一致：从 clean latent 和高斯噪声构造 xt，目标速度为一减 sigma-min 乘噪声再减 x0，损失是预测速度和目标速度的均方误差。DINO 和条件构造冻结，SS Flow 全参数更新。SLat 以冻结 TRELLIS 的速度为基线，只训练独立稀疏残差流和多视图 conditioner。最终速度等于基础速度加置信度调制后的受限残差。损失同时约束 flow velocity、重建端点、低置信区域的先验保持，以及解码后的资产质量。数值实现使用混合精度前向、FP32 主权重、DDP 和梯度检查点。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完整推理首先读取严格按 frame ID 对齐的多视图图像、mask、深度和相机。SS 条件流通过 CFG 和 EMA 权重采样 active support。随后将 active voxel 投影到所有有效视图，构造逐 voxel 的 SLat condition。SLat ODE 在每个采样步保留冻结的 TRELLIS base velocity，并叠加置信度门控的残差，最后解码成 Gaussian 和 mesh。总体思路是几何条件化生成：VGGT 为可观测区域提供确定性约束，TRELLIS 为遮挡和未观测区域提供生成先验，高层语义与低层纹理共同决定结构化潜变量，置信度负责在两者之间动态分配控制权。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772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38CDDD"/>
                </a:solidFill>
                <a:latin typeface="Noto Sans CJK SC"/>
              </a:rPr>
              <a:t>VGGT × TRELLIS × Affostruction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60704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400" b="1">
                <a:solidFill>
                  <a:srgbClr val="F0F5FA"/>
                </a:solidFill>
                <a:latin typeface="Noto Sans CJK SC"/>
              </a:rPr>
              <a:t>当前 SS / SLat 微调架构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20240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9AABBE"/>
                </a:solidFill>
                <a:latin typeface="Noto Sans CJK SC"/>
              </a:rPr>
              <a:t>从稀疏多视图几何条件，到冻结先验的结构化潜变量残差流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743200"/>
            <a:ext cx="3319272" cy="1216152"/>
          </a:xfrm>
          <a:prstGeom prst="roundRect">
            <a:avLst/>
          </a:prstGeom>
          <a:solidFill>
            <a:srgbClr val="121F32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916936"/>
            <a:ext cx="6400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4A8BFF"/>
                </a:solidFill>
                <a:latin typeface="Noto Sans CJK SC"/>
              </a:rPr>
              <a:t>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852928"/>
            <a:ext cx="22402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F0F5FA"/>
                </a:solidFill>
                <a:latin typeface="Noto Sans CJK SC"/>
              </a:rPr>
              <a:t>官方 768×12 全量流模型
RGBD voxel 条件 + CFM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3200400"/>
            <a:ext cx="43891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73168" y="2743200"/>
            <a:ext cx="3968496" cy="1216152"/>
          </a:xfrm>
          <a:prstGeom prst="roundRect">
            <a:avLst/>
          </a:prstGeom>
          <a:solidFill>
            <a:srgbClr val="121F32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2916936"/>
            <a:ext cx="914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A671FF"/>
                </a:solidFill>
                <a:latin typeface="Noto Sans CJK SC"/>
              </a:rPr>
              <a:t>SLat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52928"/>
            <a:ext cx="248716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F0F5FA"/>
                </a:solidFill>
                <a:latin typeface="Noto Sans CJK SC"/>
              </a:rPr>
              <a:t>冻结 TRELLIS 先验
像素对齐稀疏残差流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63440"/>
            <a:ext cx="10588752" cy="731520"/>
          </a:xfrm>
          <a:prstGeom prst="roundRect">
            <a:avLst/>
          </a:prstGeom>
          <a:solidFill>
            <a:srgbClr val="17283F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846320"/>
            <a:ext cx="10515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A637"/>
                </a:solidFill>
                <a:latin typeface="Noto Sans CJK SC"/>
              </a:rPr>
              <a:t>核心设计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791456"/>
            <a:ext cx="891540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0F5FA"/>
                </a:solidFill>
                <a:latin typeface="Noto Sans CJK SC"/>
              </a:rPr>
              <a:t>SS 回归官方条件流；SLat 冻结 TRELLIS 先验，仅学习可信的像素对齐残差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5989320"/>
            <a:ext cx="38404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Noto Sans CJK SC"/>
              </a:rPr>
              <a:t>项目技术汇报 · 6页精简版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当前微调：端到端最简流程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输入只使用稀疏多视图图像；SS 定结构，SLat 定属性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874519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1655063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稀疏多视图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19656"/>
            <a:ext cx="1655063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RGB / mask / frame ID
K、T、depth、confidence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87168" y="1773936"/>
            <a:ext cx="34747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2" y="1417320"/>
            <a:ext cx="178308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508760"/>
            <a:ext cx="156362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A8BFF"/>
                </a:solidFill>
                <a:latin typeface="Noto Sans CJK SC"/>
              </a:rPr>
              <a:t>VGGT + DINO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819656"/>
            <a:ext cx="156362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相机与点图对齐
高层语义特征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600" y="1773936"/>
            <a:ext cx="34747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1417320"/>
            <a:ext cx="178308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508760"/>
            <a:ext cx="156362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SS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1819656"/>
            <a:ext cx="156362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16³ voxel condition
CFM → active support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4888" y="1773936"/>
            <a:ext cx="34747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16368" y="1417320"/>
            <a:ext cx="1874519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1508760"/>
            <a:ext cx="1655063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A671FF"/>
                </a:solidFill>
                <a:latin typeface="Noto Sans CJK SC"/>
              </a:rPr>
              <a:t>SLat Residual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1819656"/>
            <a:ext cx="1655063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64³ active voxel
跨视图像素对齐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00616" y="1773936"/>
            <a:ext cx="34747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12096" y="1417320"/>
            <a:ext cx="1755648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1824" y="1508760"/>
            <a:ext cx="153619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A637"/>
                </a:solidFill>
                <a:latin typeface="Noto Sans CJK SC"/>
              </a:rPr>
              <a:t>TRELLIS Decode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4" y="1819656"/>
            <a:ext cx="1536192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Gaussian / mesh
新视角渲染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53512"/>
            <a:ext cx="5413248" cy="2670048"/>
          </a:xfrm>
          <a:prstGeom prst="roundRect">
            <a:avLst/>
          </a:prstGeom>
          <a:solidFill>
            <a:srgbClr val="121F32"/>
          </a:solidFill>
          <a:ln>
            <a:solidFill>
              <a:srgbClr val="12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163824"/>
            <a:ext cx="4846320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3BCB85"/>
                </a:solidFill>
                <a:latin typeface="Noto Sans CJK SC"/>
              </a:rPr>
              <a:t>SS：学习“哪里有结构”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639312"/>
            <a:ext cx="4754880" cy="1627632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RGBD 反投影 → 16³ voxel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跨视图平均 DINO token + 3D 位置编码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全量训练官方 Affostruction SS Flow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输出 active voxel support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2953512"/>
            <a:ext cx="5522976" cy="2670048"/>
          </a:xfrm>
          <a:prstGeom prst="roundRect">
            <a:avLst/>
          </a:prstGeom>
          <a:solidFill>
            <a:srgbClr val="121F32"/>
          </a:solidFill>
          <a:ln>
            <a:solidFill>
              <a:srgbClr val="12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3163824"/>
            <a:ext cx="5029200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A671FF"/>
                </a:solidFill>
                <a:latin typeface="Noto Sans CJK SC"/>
              </a:rPr>
              <a:t>SLat：学习“每个结构点是什么”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3639312"/>
            <a:ext cx="4828032" cy="1627632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投影 active voxel → 每个相机视图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采样高层语义 + 低层 RGB 纹理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置信度 / 遮挡 / 深度 / 角度加权融合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受限残差修正冻结 TRELLIS velocity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SS 微调：RGBD 体素条件驱动的官方生成流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在 VGGT 几何输出与 TRELLIS 稀疏结构阶段之间建立显式三维条件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82880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160934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多视图 RGBD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19656"/>
            <a:ext cx="160934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image / mask / depth
K、camera-to-world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50592" y="1773936"/>
            <a:ext cx="310896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71216" y="1417320"/>
            <a:ext cx="1764792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1508760"/>
            <a:ext cx="1545336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A8BFF"/>
                </a:solidFill>
                <a:latin typeface="Noto Sans CJK SC"/>
              </a:rPr>
              <a:t>DINO 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1819656"/>
            <a:ext cx="1545336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冻结 ViT-L/14
1024-D patch token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80" y="1773936"/>
            <a:ext cx="310896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75504" y="1417320"/>
            <a:ext cx="1847088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1508760"/>
            <a:ext cx="162763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三维反投影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1819656"/>
            <a:ext cx="1627632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像素 → canonical 3D
量化到 16³ voxel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41464" y="1773936"/>
            <a:ext cx="310896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62088" y="1417320"/>
            <a:ext cx="1874519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71815" y="1508760"/>
            <a:ext cx="1655063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条件融合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5" y="1819656"/>
            <a:ext cx="1655063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同 voxel 跨视图平均
LayerNorm + 3D PE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55480" y="1773936"/>
            <a:ext cx="310896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76104" y="1417320"/>
            <a:ext cx="1709928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85832" y="1508760"/>
            <a:ext cx="149047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SS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1819656"/>
            <a:ext cx="1490472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768×12 cross-attn
预测 latent velocity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35224"/>
            <a:ext cx="3657600" cy="2697480"/>
          </a:xfrm>
          <a:prstGeom prst="roundRect">
            <a:avLst/>
          </a:prstGeom>
          <a:solidFill>
            <a:srgbClr val="121F32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163824"/>
            <a:ext cx="31546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4A8BFF"/>
                </a:solidFill>
                <a:latin typeface="Noto Sans CJK SC"/>
              </a:rPr>
              <a:t>新增的条件表达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621024"/>
            <a:ext cx="3017520" cy="1618488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VGGT depth / camera 定义显式三维位置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DINO token 提供局部语义与外观先验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只保留实际观测 voxel，padding 通过 mask 排除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缺失编号图像按 frame ID 对齐，不发生索引漂移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9976" y="2935224"/>
            <a:ext cx="3401568" cy="2697480"/>
          </a:xfrm>
          <a:prstGeom prst="roundRect">
            <a:avLst/>
          </a:prstGeom>
          <a:solidFill>
            <a:srgbClr val="121F32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3163824"/>
            <a:ext cx="28803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3BCB85"/>
                </a:solidFill>
                <a:latin typeface="Noto Sans CJK SC"/>
              </a:rPr>
              <a:t>微调拓扑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621024"/>
            <a:ext cx="2779776" cy="1618488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Affostruction SparseStructureFlowModel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16³、8 latent channel、hidden 768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12 blocks / 12 heads / absolute PE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SS Flow 全参数训练；DINO 冻结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935224"/>
            <a:ext cx="3675887" cy="2697480"/>
          </a:xfrm>
          <a:prstGeom prst="roundRect">
            <a:avLst/>
          </a:prstGeom>
          <a:solidFill>
            <a:srgbClr val="121F32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3163824"/>
            <a:ext cx="316382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3BCB85"/>
                </a:solidFill>
                <a:latin typeface="Noto Sans CJK SC"/>
              </a:rPr>
              <a:t>生成方法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621024"/>
            <a:ext cx="3026664" cy="1618488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Conditional Flow Matching 训练速度场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cross-attention 注入紧凑 voxel token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CFG dropout 学习有条件/无条件分支</a:t>
            </a:r>
          </a:p>
          <a:p>
            <a:pPr>
              <a:spcAft>
                <a:spcPts val="900"/>
              </a:spcAft>
              <a:defRPr sz="1290">
                <a:solidFill>
                  <a:srgbClr val="F0F5FA"/>
                </a:solidFill>
                <a:latin typeface="Noto Sans CJK SC"/>
              </a:defRPr>
            </a:pPr>
            <a:r>
              <a:t>• ODE 采样得到 active voxel support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SLat 微调：像素对齐的可信稀疏残差流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保留 TRELLIS 原生生成能力，仅在有多视图证据的位置进行受控修正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572768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135331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active voxel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19656"/>
            <a:ext cx="1353312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SS support
64³ 坐标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85416" y="1773936"/>
            <a:ext cx="283464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9464" y="1417320"/>
            <a:ext cx="1719072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1508760"/>
            <a:ext cx="1499616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A8BFF"/>
                </a:solidFill>
                <a:latin typeface="Noto Sans CJK SC"/>
              </a:rPr>
              <a:t>多视图投影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1819656"/>
            <a:ext cx="1499616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K、world-to-camera
3D → pixel grid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98264" y="1773936"/>
            <a:ext cx="283464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82312" y="1417320"/>
            <a:ext cx="1746504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508760"/>
            <a:ext cx="152704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A671FF"/>
                </a:solidFill>
                <a:latin typeface="Noto Sans CJK SC"/>
              </a:rPr>
              <a:t>双频采样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1819656"/>
            <a:ext cx="1527048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high DINO semantics
+ low RGB texture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638544" y="1773936"/>
            <a:ext cx="283464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22592" y="1417320"/>
            <a:ext cx="1764792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508760"/>
            <a:ext cx="1545336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可信融合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819656"/>
            <a:ext cx="1545336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c × mask × depth
× angle agreement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97112" y="1773936"/>
            <a:ext cx="283464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81160" y="1417320"/>
            <a:ext cx="169164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508760"/>
            <a:ext cx="147218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A671FF"/>
                </a:solidFill>
                <a:latin typeface="Noto Sans CJK SC"/>
              </a:rPr>
              <a:t>稀疏残差流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1819656"/>
            <a:ext cx="147218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768×12 SLat Flow
预测 Δv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1064240" y="1773936"/>
            <a:ext cx="246888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0" y="1627632"/>
            <a:ext cx="438912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50" b="1">
                <a:solidFill>
                  <a:srgbClr val="F5A637"/>
                </a:solidFill>
                <a:latin typeface="Noto Sans CJK SC"/>
              </a:rPr>
              <a:t>解码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907792"/>
            <a:ext cx="3502152" cy="2724912"/>
          </a:xfrm>
          <a:prstGeom prst="roundRect">
            <a:avLst/>
          </a:prstGeom>
          <a:solidFill>
            <a:srgbClr val="121F32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136392"/>
            <a:ext cx="299923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38CDDD"/>
                </a:solidFill>
                <a:latin typeface="Noto Sans CJK SC"/>
              </a:rPr>
              <a:t>逐 voxel 多视图融合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3675887"/>
            <a:ext cx="301752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20" b="1">
                <a:solidFill>
                  <a:srgbClr val="F0F5FA"/>
                </a:solidFill>
                <a:latin typeface="Noto Sans CJK SC"/>
              </a:rPr>
              <a:t>fi = Σv αv [fiᴴ ⊕ fiᴸ] / (Σv αv + 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4251960"/>
            <a:ext cx="2907792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80" b="0">
                <a:solidFill>
                  <a:srgbClr val="F0F5FA"/>
                </a:solidFill>
                <a:latin typeface="Noto Sans CJK SC"/>
              </a:rPr>
              <a:t>αv = confidence · visibility ·
depth agreement · angle agreement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029200"/>
            <a:ext cx="28529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80" b="1">
                <a:solidFill>
                  <a:srgbClr val="9AABBE"/>
                </a:solidFill>
                <a:latin typeface="Noto Sans CJK SC"/>
              </a:rPr>
              <a:t>输出：1024-D condition + valid mask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2907792"/>
            <a:ext cx="3675887" cy="2724912"/>
          </a:xfrm>
          <a:prstGeom prst="roundRect">
            <a:avLst/>
          </a:prstGeom>
          <a:solidFill>
            <a:srgbClr val="121F32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3136392"/>
            <a:ext cx="316382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A671FF"/>
                </a:solidFill>
                <a:latin typeface="Noto Sans CJK SC"/>
              </a:rPr>
              <a:t>独立 Affostruction Sparse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3675887"/>
            <a:ext cx="2944368" cy="14630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900"/>
              </a:spcAft>
              <a:defRPr sz="1280">
                <a:solidFill>
                  <a:srgbClr val="F0F5FA"/>
                </a:solidFill>
                <a:latin typeface="Noto Sans CJK SC"/>
              </a:defRPr>
            </a:pPr>
            <a:r>
              <a:t>• SLatFlowModel：64³ sparse support</a:t>
            </a:r>
          </a:p>
          <a:p>
            <a:pPr>
              <a:spcAft>
                <a:spcPts val="900"/>
              </a:spcAft>
              <a:defRPr sz="1280">
                <a:solidFill>
                  <a:srgbClr val="F0F5FA"/>
                </a:solidFill>
                <a:latin typeface="Noto Sans CJK SC"/>
              </a:defRPr>
            </a:pPr>
            <a:r>
              <a:t>• 8 latent channel、hidden 768</a:t>
            </a:r>
          </a:p>
          <a:p>
            <a:pPr>
              <a:spcAft>
                <a:spcPts val="900"/>
              </a:spcAft>
              <a:defRPr sz="1280">
                <a:solidFill>
                  <a:srgbClr val="F0F5FA"/>
                </a:solidFill>
                <a:latin typeface="Noto Sans CJK SC"/>
              </a:defRPr>
            </a:pPr>
            <a:r>
              <a:t>• 12 blocks / 12 heads / patch size 2</a:t>
            </a:r>
          </a:p>
          <a:p>
            <a:pPr>
              <a:spcAft>
                <a:spcPts val="900"/>
              </a:spcAft>
              <a:defRPr sz="1280">
                <a:solidFill>
                  <a:srgbClr val="F0F5FA"/>
                </a:solidFill>
                <a:latin typeface="Noto Sans CJK SC"/>
              </a:defRPr>
            </a:pPr>
            <a:r>
              <a:t>• 只训练 residual flow 与 conditioner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74736" y="2907792"/>
            <a:ext cx="3502152" cy="2724912"/>
          </a:xfrm>
          <a:prstGeom prst="roundRect">
            <a:avLst/>
          </a:prstGeom>
          <a:solidFill>
            <a:srgbClr val="121F32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3136392"/>
            <a:ext cx="2999232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3BCB85"/>
                </a:solidFill>
                <a:latin typeface="Noto Sans CJK SC"/>
              </a:rPr>
              <a:t>冻结先验与受控注入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3675887"/>
            <a:ext cx="3081528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20" b="1">
                <a:solidFill>
                  <a:srgbClr val="F0F5FA"/>
                </a:solidFill>
                <a:latin typeface="Noto Sans CJK SC"/>
              </a:rPr>
              <a:t>vfinal = vfrozen + c · L · tanh(Δvraw / 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4370832"/>
            <a:ext cx="2907792" cy="96012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700"/>
              </a:spcAft>
              <a:defRPr sz="1230">
                <a:solidFill>
                  <a:srgbClr val="F0F5FA"/>
                </a:solidFill>
                <a:latin typeface="Noto Sans CJK SC"/>
              </a:defRPr>
            </a:pPr>
            <a:r>
              <a:t>• TRELLIS native SLat flow 冻结</a:t>
            </a:r>
          </a:p>
          <a:p>
            <a:pPr>
              <a:spcAft>
                <a:spcPts val="700"/>
              </a:spcAft>
              <a:defRPr sz="1230">
                <a:solidFill>
                  <a:srgbClr val="F0F5FA"/>
                </a:solidFill>
                <a:latin typeface="Noto Sans CJK SC"/>
              </a:defRPr>
            </a:pPr>
            <a:r>
              <a:t>• 残差幅值随 base velocity RMS 缩放</a:t>
            </a:r>
          </a:p>
          <a:p>
            <a:pPr>
              <a:spcAft>
                <a:spcPts val="700"/>
              </a:spcAft>
              <a:defRPr sz="1230">
                <a:solidFill>
                  <a:srgbClr val="F0F5FA"/>
                </a:solidFill>
                <a:latin typeface="Noto Sans CJK SC"/>
              </a:defRPr>
            </a:pPr>
            <a:r>
              <a:t>• 低可信区域自动回归原生先验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训练目标与梯度边界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把结构生成、先验保持、可信残差分成可审计的优化路径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44168"/>
            <a:ext cx="5440680" cy="4407408"/>
          </a:xfrm>
          <a:prstGeom prst="roundRect">
            <a:avLst/>
          </a:prstGeom>
          <a:solidFill>
            <a:srgbClr val="121F32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72768"/>
            <a:ext cx="4937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3BCB85"/>
                </a:solidFill>
                <a:latin typeface="Noto Sans CJK SC"/>
              </a:rPr>
              <a:t>SS：官方 Conditional Flow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148840"/>
            <a:ext cx="4873752" cy="685800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4526280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Noto Sans CJK SC"/>
              </a:rPr>
              <a:t>xt = (1−t)x0 + [σmin+(1−σmin)t]ε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962656"/>
            <a:ext cx="4873752" cy="685800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3090672"/>
            <a:ext cx="4617720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50" b="1">
                <a:solidFill>
                  <a:srgbClr val="F0F5FA"/>
                </a:solidFill>
                <a:latin typeface="Noto Sans CJK SC"/>
              </a:rPr>
              <a:t>v* = (1−σmin)ε − x0    ·    LSS = ‖vθ−v*‖²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904487"/>
            <a:ext cx="4681728" cy="12344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训练：官方 SS Flow 全部参数</a:t>
            </a:r>
          </a:p>
          <a:p>
            <a:pPr>
              <a:spcAft>
                <a:spcPts val="9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冻结：DINO 图像编码器与条件构造</a:t>
            </a:r>
          </a:p>
          <a:p>
            <a:pPr>
              <a:spcAft>
                <a:spcPts val="9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优化：AdamW + EMA + CFG dropout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5193792"/>
            <a:ext cx="4818888" cy="338328"/>
          </a:xfrm>
          <a:prstGeom prst="roundRect">
            <a:avLst/>
          </a:prstGeom>
          <a:solidFill>
            <a:srgbClr val="1B3F37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212080"/>
            <a:ext cx="454456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BCB85"/>
                </a:solidFill>
                <a:latin typeface="Noto Sans CJK SC"/>
              </a:rPr>
              <a:t>单一速度目标保持生成流训练的一致性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344168"/>
            <a:ext cx="5468112" cy="4407408"/>
          </a:xfrm>
          <a:prstGeom prst="roundRect">
            <a:avLst/>
          </a:prstGeom>
          <a:solidFill>
            <a:srgbClr val="121F32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572768"/>
            <a:ext cx="4956048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A671FF"/>
                </a:solidFill>
                <a:latin typeface="Noto Sans CJK SC"/>
              </a:rPr>
              <a:t>SLat：冻结先验 + 受控残差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3952" y="2148840"/>
            <a:ext cx="4910328" cy="685800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276856"/>
            <a:ext cx="4590288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50" b="1">
                <a:solidFill>
                  <a:srgbClr val="F0F5FA"/>
                </a:solidFill>
                <a:latin typeface="Noto Sans CJK SC"/>
              </a:rPr>
              <a:t>vfinal = vfrozen + c · L · tanh(Δvraw / 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962656"/>
            <a:ext cx="4910328" cy="685800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3090672"/>
            <a:ext cx="4718304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50" b="1">
                <a:solidFill>
                  <a:srgbClr val="F0F5FA"/>
                </a:solidFill>
                <a:latin typeface="Noto Sans CJK SC"/>
              </a:rPr>
              <a:t>LSLat = Lflow + λx0Lendpoint + λpLprior + Ldecoded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3904487"/>
            <a:ext cx="4663440" cy="12344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900"/>
              </a:spcAft>
              <a:defRPr sz="1310">
                <a:solidFill>
                  <a:srgbClr val="F0F5FA"/>
                </a:solidFill>
                <a:latin typeface="Noto Sans CJK SC"/>
              </a:defRPr>
            </a:pPr>
            <a:r>
              <a:t>• 训练：Affostruction sparse residual flow + conditioner</a:t>
            </a:r>
          </a:p>
          <a:p>
            <a:pPr>
              <a:spcAft>
                <a:spcPts val="900"/>
              </a:spcAft>
              <a:defRPr sz="1310">
                <a:solidFill>
                  <a:srgbClr val="F0F5FA"/>
                </a:solidFill>
                <a:latin typeface="Noto Sans CJK SC"/>
              </a:defRPr>
            </a:pPr>
            <a:r>
              <a:t>• 冻结：TRELLIS native SLat flow / decoder teacher</a:t>
            </a:r>
          </a:p>
          <a:p>
            <a:pPr>
              <a:spcAft>
                <a:spcPts val="900"/>
              </a:spcAft>
              <a:defRPr sz="1310">
                <a:solidFill>
                  <a:srgbClr val="F0F5FA"/>
                </a:solidFill>
                <a:latin typeface="Noto Sans CJK SC"/>
              </a:defRPr>
            </a:pPr>
            <a:r>
              <a:t>• 监督：velocity、端点、低置信先验、解码资产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5193792"/>
            <a:ext cx="4855464" cy="338328"/>
          </a:xfrm>
          <a:prstGeom prst="roundRect">
            <a:avLst/>
          </a:prstGeom>
          <a:solidFill>
            <a:srgbClr val="2D2344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5212080"/>
            <a:ext cx="466344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A671FF"/>
                </a:solidFill>
                <a:latin typeface="Noto Sans CJK SC"/>
              </a:rPr>
              <a:t>BF16 前向 · FP32 主权重 · DDP · checkpointing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完整推理闭环与总体思路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显式几何负责可观测区域，生成先验负责稀疏视图下的不确定区域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664208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144475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多视图输入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19656"/>
            <a:ext cx="1444752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精确 frame ID
缺帧不重排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67712" y="1773936"/>
            <a:ext cx="292608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60904" y="1417320"/>
            <a:ext cx="155448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508760"/>
            <a:ext cx="133502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SS 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1819656"/>
            <a:ext cx="133502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CFG + EMA
生成 support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15968" y="1773936"/>
            <a:ext cx="292608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09160" y="1417320"/>
            <a:ext cx="1591056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1508760"/>
            <a:ext cx="13716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A8BFF"/>
                </a:solidFill>
                <a:latin typeface="Noto Sans CJK SC"/>
              </a:rPr>
              <a:t>坐标投影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1819656"/>
            <a:ext cx="1371600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active voxel
→ 所有视图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00800" y="1773936"/>
            <a:ext cx="292608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93992" y="1417320"/>
            <a:ext cx="1682496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08760"/>
            <a:ext cx="1463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A671FF"/>
                </a:solidFill>
                <a:latin typeface="Noto Sans CJK SC"/>
              </a:rPr>
              <a:t>SLat 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19656"/>
            <a:ext cx="1463040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native base
+ gated residual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77072" y="1773936"/>
            <a:ext cx="292608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70264" y="1417320"/>
            <a:ext cx="1874519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1508760"/>
            <a:ext cx="1655063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A637"/>
                </a:solidFill>
                <a:latin typeface="Noto Sans CJK SC"/>
              </a:rPr>
              <a:t>资产解码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9992" y="1819656"/>
            <a:ext cx="1655063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Gaussian + mesh
held-out 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07792"/>
            <a:ext cx="5504688" cy="2633472"/>
          </a:xfrm>
          <a:prstGeom prst="roundRect">
            <a:avLst/>
          </a:prstGeom>
          <a:solidFill>
            <a:srgbClr val="121F32"/>
          </a:solidFill>
          <a:ln>
            <a:solidFill>
              <a:srgbClr val="12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127248"/>
            <a:ext cx="499262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3BCB85"/>
                </a:solidFill>
                <a:latin typeface="Noto Sans CJK SC"/>
              </a:rPr>
              <a:t>总体方法：几何条件化生成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611880"/>
            <a:ext cx="4828032" cy="155448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320">
                <a:solidFill>
                  <a:srgbClr val="F0F5FA"/>
                </a:solidFill>
                <a:latin typeface="Noto Sans CJK SC"/>
              </a:defRPr>
            </a:pPr>
            <a:r>
              <a:t>• SS 把 RGBD 证据转为三维稀疏结构条件</a:t>
            </a:r>
          </a:p>
          <a:p>
            <a:pPr>
              <a:spcAft>
                <a:spcPts val="1000"/>
              </a:spcAft>
              <a:defRPr sz="1320">
                <a:solidFill>
                  <a:srgbClr val="F0F5FA"/>
                </a:solidFill>
                <a:latin typeface="Noto Sans CJK SC"/>
              </a:defRPr>
            </a:pPr>
            <a:r>
              <a:t>• SLat 把 active voxel 转回像素对齐特征</a:t>
            </a:r>
          </a:p>
          <a:p>
            <a:pPr>
              <a:spcAft>
                <a:spcPts val="1000"/>
              </a:spcAft>
              <a:defRPr sz="1320">
                <a:solidFill>
                  <a:srgbClr val="F0F5FA"/>
                </a:solidFill>
                <a:latin typeface="Noto Sans CJK SC"/>
              </a:defRPr>
            </a:pPr>
            <a:r>
              <a:t>• 高层语义负责类别与部件，低层 RGB 负责局部纹理</a:t>
            </a:r>
          </a:p>
          <a:p>
            <a:pPr>
              <a:spcAft>
                <a:spcPts val="1000"/>
              </a:spcAft>
              <a:defRPr sz="1320">
                <a:solidFill>
                  <a:srgbClr val="F0F5FA"/>
                </a:solidFill>
                <a:latin typeface="Noto Sans CJK SC"/>
              </a:defRPr>
            </a:pPr>
            <a:r>
              <a:t>• confidence 决定几何观测与生成先验的控制权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2907792"/>
            <a:ext cx="5440680" cy="2633472"/>
          </a:xfrm>
          <a:prstGeom prst="roundRect">
            <a:avLst/>
          </a:prstGeom>
          <a:solidFill>
            <a:srgbClr val="121F32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127248"/>
            <a:ext cx="4937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5A637"/>
                </a:solidFill>
                <a:latin typeface="Noto Sans CJK SC"/>
              </a:rPr>
              <a:t>工程与训练闭环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3611880"/>
            <a:ext cx="4773168" cy="155448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0F5FA"/>
                </a:solidFill>
                <a:latin typeface="Noto Sans CJK SC"/>
              </a:defRPr>
            </a:pPr>
            <a:r>
              <a:t>• frame ID、图像、深度与相机保持一一对应</a:t>
            </a:r>
          </a:p>
          <a:p>
            <a:pPr>
              <a:spcAft>
                <a:spcPts val="1000"/>
              </a:spcAft>
              <a:defRPr sz="1300">
                <a:solidFill>
                  <a:srgbClr val="F0F5FA"/>
                </a:solidFill>
                <a:latin typeface="Noto Sans CJK SC"/>
              </a:defRPr>
            </a:pPr>
            <a:r>
              <a:t>• DDP 利用多 GPU；BF16 前向降低显存与通信成本</a:t>
            </a:r>
          </a:p>
          <a:p>
            <a:pPr>
              <a:spcAft>
                <a:spcPts val="1000"/>
              </a:spcAft>
              <a:defRPr sz="1300">
                <a:solidFill>
                  <a:srgbClr val="F0F5FA"/>
                </a:solidFill>
                <a:latin typeface="Noto Sans CJK SC"/>
              </a:defRPr>
            </a:pPr>
            <a:r>
              <a:t>• FP32 主权重、EMA 与梯度检查点保证稳定训练</a:t>
            </a:r>
          </a:p>
          <a:p>
            <a:pPr>
              <a:spcAft>
                <a:spcPts val="1000"/>
              </a:spcAft>
              <a:defRPr sz="1300">
                <a:solidFill>
                  <a:srgbClr val="F0F5FA"/>
                </a:solidFill>
                <a:latin typeface="Noto Sans CJK SC"/>
              </a:defRPr>
            </a:pPr>
            <a:r>
              <a:t>• 训练、验证与推理共享相同坐标系和条件契约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742432"/>
            <a:ext cx="11164824" cy="502920"/>
          </a:xfrm>
          <a:prstGeom prst="roundRect">
            <a:avLst/>
          </a:prstGeom>
          <a:solidFill>
            <a:srgbClr val="17393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815584"/>
            <a:ext cx="10753344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最终目标：观测区域由 VGGT 精确校正，未观测区域保留 TRELLIS 生成先验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