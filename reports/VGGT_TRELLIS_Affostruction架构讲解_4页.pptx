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当前架构吸收 Affostruction 的核心并不是增加一个普通 Adapter，而是改变条件进入生成模型的方式。VGGT 输出相机、深度、点图和置信度，SS 阶段把二维像素证据转换成十六立方三维条件，生成 active support；SLat 阶段从六十四立方 active voxel 再投影回图像，读取对应的语义与纹理。Affostruction 的空间 token、三维位置编码、cross-attention 和 Conditional Flow Matching 被保留，但文本或 affordance 条件没有被采用。系统最终通过置信度决定由观测证据还是 TRELLIS 先验控制某个区域。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SS 的条件构造分为特征提取、三维反投影和跨视图聚合。冻结 DINO 从每个输入视图生成一千零二十四维 patch feature；VGGT 或数据集深度结合相机内外参把像素恢复到 canonical 三维空间，再量化到十六立方 voxel。同一 voxel 中的像素先确定平均二维采样位置，通过 grid_sample 读取 DINO 特征，之后在所有有效视图间平均。聚合结果经过 LayerNorm 并加入三维位置编码，只有被观测到的 voxel 被压缩为条件 token。官方 Affostruction SS Flow 使用十二层、宽度七百六十八的 Transformer，通过 cross-attention 读取这些条件，训练目标为 Conditional Flow Matching 速度 MSE，推理通过 ODE 和 CFG 得到 active support。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SLat 阶段从 SS 的 active voxel 出发，将每个三维坐标投影到所有有效输入视图，在相同像素位置采样高层 DINO 或 VGGT 特征以及浅层 RGB CNN 特征。高层特征负责部件语义，低层特征保留颜色和局部纹理。每个视图的融合权重由 VGGT confidence、可见性、前景遮挡、深度一致性和法向入射角共同决定。融合后的 token 通过 cross-attention 输入 Affostruction SLatFlowModel。这个稀疏流不替换 TRELLIS，而是预测 residual。TRELLIS 原生 SLat velocity 完全冻结，残差先按 base velocity RMS 确定尺度，再用 tanh 限幅并乘 voxel confidence，因此有证据区域得到校正，弱证据区域保留原始先验。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训练分成 SS 和 SLat 两个阶段。SS 中只更新官方 Affostruction SS Flow，DINO 和 RGBD conditioner 冻结，使用 CFM 速度 MSE 和 EMA。得到 SS 模型后生成 active support。SLat 中冻结 TRELLIS 原生 SLat flow，把它作为 base teacher，训练独立 residual flow 和 conditioner，使最终速度对齐目标速度，同时使用 endpoint、低置信先验保持和解码资产监督。推理时 SS 先生成 support，SLat 在每个 ODE 步将 frozen base 与 gated residual 相加，再交给 TRELLIS decoder。整个闭环必须保持 frame ID、相机约定、canonical 坐标以及条件 mask 一致。最终方法可以概括为 Pixel 到 Voxel，再从 Voxel 回到像素证据，最后形成受控 Structured Latent。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237744"/>
            <a:ext cx="502920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36CFDC"/>
                </a:solidFill>
                <a:latin typeface="Noto Sans CJK SC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182880"/>
            <a:ext cx="10744200" cy="5303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0F5FA"/>
                </a:solidFill>
                <a:latin typeface="Noto Sans CJK SC"/>
              </a:rPr>
              <a:t>总体思路：把图像条件变成三维空间条件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704088"/>
            <a:ext cx="1056132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50" b="0">
                <a:solidFill>
                  <a:srgbClr val="9AABBE"/>
                </a:solidFill>
                <a:latin typeface="Noto Sans CJK SC"/>
              </a:rPr>
              <a:t>吸收 Affostruction 的空间条件化生成与稀疏流思想，适配 VGGT + TRELLIS 两阶段重建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1024128"/>
            <a:ext cx="11292840" cy="22860"/>
          </a:xfrm>
          <a:prstGeom prst="rect">
            <a:avLst/>
          </a:prstGeom>
          <a:solidFill>
            <a:srgbClr val="36CFDC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874519" cy="1024128"/>
          </a:xfrm>
          <a:prstGeom prst="roundRect">
            <a:avLst/>
          </a:prstGeom>
          <a:solidFill>
            <a:srgbClr val="18283E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453896"/>
            <a:ext cx="1709928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36CFDC"/>
                </a:solidFill>
                <a:latin typeface="Noto Sans CJK SC"/>
              </a:rPr>
              <a:t>VGGT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764792"/>
            <a:ext cx="1709928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010" b="0">
                <a:solidFill>
                  <a:srgbClr val="F0F5FA"/>
                </a:solidFill>
                <a:latin typeface="Noto Sans CJK SC"/>
              </a:rPr>
              <a:t>相机 K/T、depth、point map、confidence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87168" y="1737360"/>
            <a:ext cx="310896" cy="274320"/>
          </a:xfrm>
          <a:prstGeom prst="rightArrow">
            <a:avLst/>
          </a:prstGeom>
          <a:solidFill>
            <a:srgbClr val="36CFDC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7792" y="1371600"/>
            <a:ext cx="1947672" cy="1024128"/>
          </a:xfrm>
          <a:prstGeom prst="roundRect">
            <a:avLst/>
          </a:prstGeom>
          <a:solidFill>
            <a:srgbClr val="18283E"/>
          </a:solidFill>
          <a:ln>
            <a:solidFill>
              <a:srgbClr val="3AC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453896"/>
            <a:ext cx="178308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3ACB84"/>
                </a:solidFill>
                <a:latin typeface="Noto Sans CJK SC"/>
              </a:rPr>
              <a:t>SS 条件流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1764792"/>
            <a:ext cx="178308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010" b="0">
                <a:solidFill>
                  <a:srgbClr val="F0F5FA"/>
                </a:solidFill>
                <a:latin typeface="Noto Sans CJK SC"/>
              </a:rPr>
              <a:t>Pixel → 16³ voxel
生成 active support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65192" y="1737360"/>
            <a:ext cx="310896" cy="274320"/>
          </a:xfrm>
          <a:prstGeom prst="rightArrow">
            <a:avLst/>
          </a:prstGeom>
          <a:solidFill>
            <a:srgbClr val="36CFDC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85816" y="1371600"/>
            <a:ext cx="2011680" cy="1024128"/>
          </a:xfrm>
          <a:prstGeom prst="roundRect">
            <a:avLst/>
          </a:prstGeom>
          <a:solidFill>
            <a:srgbClr val="18283E"/>
          </a:solidFill>
          <a:ln>
            <a:solidFill>
              <a:srgbClr val="A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8112" y="1453896"/>
            <a:ext cx="1847088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A770FF"/>
                </a:solidFill>
                <a:latin typeface="Noto Sans CJK SC"/>
              </a:rPr>
              <a:t>SLat 残差流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8112" y="1764792"/>
            <a:ext cx="1847088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010" b="0">
                <a:solidFill>
                  <a:srgbClr val="F0F5FA"/>
                </a:solidFill>
                <a:latin typeface="Noto Sans CJK SC"/>
              </a:rPr>
              <a:t>64³ voxel → Pixel
生成局部属性修正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507224" y="1737360"/>
            <a:ext cx="310896" cy="274320"/>
          </a:xfrm>
          <a:prstGeom prst="rightArrow">
            <a:avLst/>
          </a:prstGeom>
          <a:solidFill>
            <a:srgbClr val="36CFDC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27848" y="1371600"/>
            <a:ext cx="1901952" cy="1024128"/>
          </a:xfrm>
          <a:prstGeom prst="roundRect">
            <a:avLst/>
          </a:prstGeom>
          <a:solidFill>
            <a:srgbClr val="18283E"/>
          </a:solidFill>
          <a:ln>
            <a:solidFill>
              <a:srgbClr val="4A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0144" y="1453896"/>
            <a:ext cx="173736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4A8BFF"/>
                </a:solidFill>
                <a:latin typeface="Noto Sans CJK SC"/>
              </a:rPr>
              <a:t>TRELLIS 先验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1764792"/>
            <a:ext cx="173736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010" b="0">
                <a:solidFill>
                  <a:srgbClr val="F0F5FA"/>
                </a:solidFill>
                <a:latin typeface="Noto Sans CJK SC"/>
              </a:rPr>
              <a:t>遮挡/未观测区域
保持生成完整性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939528" y="1737360"/>
            <a:ext cx="310896" cy="274320"/>
          </a:xfrm>
          <a:prstGeom prst="rightArrow">
            <a:avLst/>
          </a:prstGeom>
          <a:solidFill>
            <a:srgbClr val="36CFDC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60152" y="1371600"/>
            <a:ext cx="1325880" cy="1024128"/>
          </a:xfrm>
          <a:prstGeom prst="roundRect">
            <a:avLst/>
          </a:prstGeom>
          <a:solidFill>
            <a:srgbClr val="18283E"/>
          </a:solidFill>
          <a:ln>
            <a:solidFill>
              <a:srgbClr val="F5A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42448" y="1453896"/>
            <a:ext cx="1161288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5A636"/>
                </a:solidFill>
                <a:latin typeface="Noto Sans CJK SC"/>
              </a:rPr>
              <a:t>3D 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42448" y="1764792"/>
            <a:ext cx="1161288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010" b="0">
                <a:solidFill>
                  <a:srgbClr val="F0F5FA"/>
                </a:solidFill>
                <a:latin typeface="Noto Sans CJK SC"/>
              </a:rPr>
              <a:t>Gaussian / mesh
新视角渲染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779776"/>
            <a:ext cx="3529584" cy="2862072"/>
          </a:xfrm>
          <a:prstGeom prst="roundRect">
            <a:avLst/>
          </a:prstGeom>
          <a:solidFill>
            <a:srgbClr val="121F32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017520"/>
            <a:ext cx="3035808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36CFDC"/>
                </a:solidFill>
                <a:latin typeface="Noto Sans CJK SC"/>
              </a:rPr>
              <a:t>从 Affostruction 直接采用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3547872"/>
            <a:ext cx="2880360" cy="169164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700"/>
              </a:spcAft>
              <a:defRPr sz="1260">
                <a:solidFill>
                  <a:srgbClr val="F0F5FA"/>
                </a:solidFill>
                <a:latin typeface="Noto Sans CJK SC"/>
              </a:defRPr>
            </a:pPr>
            <a:r>
              <a:t>• RGBD 像素反投影并附着到三维 voxel</a:t>
            </a:r>
          </a:p>
          <a:p>
            <a:pPr>
              <a:spcAft>
                <a:spcPts val="700"/>
              </a:spcAft>
              <a:defRPr sz="1260">
                <a:solidFill>
                  <a:srgbClr val="F0F5FA"/>
                </a:solidFill>
                <a:latin typeface="Noto Sans CJK SC"/>
              </a:defRPr>
            </a:pPr>
            <a:r>
              <a:t>• 空间条件 token + 3D positional encoding</a:t>
            </a:r>
          </a:p>
          <a:p>
            <a:pPr>
              <a:spcAft>
                <a:spcPts val="700"/>
              </a:spcAft>
              <a:defRPr sz="1260">
                <a:solidFill>
                  <a:srgbClr val="F0F5FA"/>
                </a:solidFill>
                <a:latin typeface="Noto Sans CJK SC"/>
              </a:defRPr>
            </a:pPr>
            <a:r>
              <a:t>• Transformer cross-attention 条件注入</a:t>
            </a:r>
          </a:p>
          <a:p>
            <a:pPr>
              <a:spcAft>
                <a:spcPts val="700"/>
              </a:spcAft>
              <a:defRPr sz="1260">
                <a:solidFill>
                  <a:srgbClr val="F0F5FA"/>
                </a:solidFill>
                <a:latin typeface="Noto Sans CJK SC"/>
              </a:defRPr>
            </a:pPr>
            <a:r>
              <a:t>• 官方 SS 768×12 Conditional Flow Matching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2779776"/>
            <a:ext cx="3557016" cy="2862072"/>
          </a:xfrm>
          <a:prstGeom prst="roundRect">
            <a:avLst/>
          </a:prstGeom>
          <a:solidFill>
            <a:srgbClr val="121F32"/>
          </a:solidFill>
          <a:ln>
            <a:solidFill>
              <a:srgbClr val="A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4568" y="3017520"/>
            <a:ext cx="306324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A770FF"/>
                </a:solidFill>
                <a:latin typeface="Noto Sans CJK SC"/>
              </a:rPr>
              <a:t>针对图像重建进行适配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1144" y="3547872"/>
            <a:ext cx="2880360" cy="169164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700"/>
              </a:spcAft>
              <a:defRPr sz="1260">
                <a:solidFill>
                  <a:srgbClr val="F0F5FA"/>
                </a:solidFill>
                <a:latin typeface="Noto Sans CJK SC"/>
              </a:defRPr>
            </a:pPr>
            <a:r>
              <a:t>• 不使用文本、CLIP 或 affordance prompt</a:t>
            </a:r>
          </a:p>
          <a:p>
            <a:pPr>
              <a:spcAft>
                <a:spcPts val="700"/>
              </a:spcAft>
              <a:defRPr sz="1260">
                <a:solidFill>
                  <a:srgbClr val="F0F5FA"/>
                </a:solidFill>
                <a:latin typeface="Noto Sans CJK SC"/>
              </a:defRPr>
            </a:pPr>
            <a:r>
              <a:t>• 条件改为 VGGT 几何 + DINO 语义 + RGB 纹理</a:t>
            </a:r>
          </a:p>
          <a:p>
            <a:pPr>
              <a:spcAft>
                <a:spcPts val="700"/>
              </a:spcAft>
              <a:defRPr sz="1260">
                <a:solidFill>
                  <a:srgbClr val="F0F5FA"/>
                </a:solidFill>
                <a:latin typeface="Noto Sans CJK SC"/>
              </a:defRPr>
            </a:pPr>
            <a:r>
              <a:t>• SLat active voxel 回投所有输入视图</a:t>
            </a:r>
          </a:p>
          <a:p>
            <a:pPr>
              <a:spcAft>
                <a:spcPts val="700"/>
              </a:spcAft>
              <a:defRPr sz="1260">
                <a:solidFill>
                  <a:srgbClr val="F0F5FA"/>
                </a:solidFill>
                <a:latin typeface="Noto Sans CJK SC"/>
              </a:defRPr>
            </a:pPr>
            <a:r>
              <a:t>• 多视图证据按可见性与一致性融合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19872" y="2779776"/>
            <a:ext cx="3557016" cy="2862072"/>
          </a:xfrm>
          <a:prstGeom prst="roundRect">
            <a:avLst/>
          </a:prstGeom>
          <a:solidFill>
            <a:srgbClr val="121F32"/>
          </a:solidFill>
          <a:ln>
            <a:solidFill>
              <a:srgbClr val="3AC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3017520"/>
            <a:ext cx="306324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3ACB84"/>
                </a:solidFill>
                <a:latin typeface="Noto Sans CJK SC"/>
              </a:rPr>
              <a:t>总体控制原则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3336" y="3547872"/>
            <a:ext cx="2862072" cy="169164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700"/>
              </a:spcAft>
              <a:defRPr sz="1260">
                <a:solidFill>
                  <a:srgbClr val="F0F5FA"/>
                </a:solidFill>
                <a:latin typeface="Noto Sans CJK SC"/>
              </a:defRPr>
            </a:pPr>
            <a:r>
              <a:t>• SS 决定“哪里存在结构”</a:t>
            </a:r>
          </a:p>
          <a:p>
            <a:pPr>
              <a:spcAft>
                <a:spcPts val="700"/>
              </a:spcAft>
              <a:defRPr sz="1260">
                <a:solidFill>
                  <a:srgbClr val="F0F5FA"/>
                </a:solidFill>
                <a:latin typeface="Noto Sans CJK SC"/>
              </a:defRPr>
            </a:pPr>
            <a:r>
              <a:t>• SLat 决定“结构点具有什么属性”</a:t>
            </a:r>
          </a:p>
          <a:p>
            <a:pPr>
              <a:spcAft>
                <a:spcPts val="700"/>
              </a:spcAft>
              <a:defRPr sz="1260">
                <a:solidFill>
                  <a:srgbClr val="F0F5FA"/>
                </a:solidFill>
                <a:latin typeface="Noto Sans CJK SC"/>
              </a:defRPr>
            </a:pPr>
            <a:r>
              <a:t>• 观测充分区域由 VGGT 校正</a:t>
            </a:r>
          </a:p>
          <a:p>
            <a:pPr>
              <a:spcAft>
                <a:spcPts val="700"/>
              </a:spcAft>
              <a:defRPr sz="1260">
                <a:solidFill>
                  <a:srgbClr val="F0F5FA"/>
                </a:solidFill>
                <a:latin typeface="Noto Sans CJK SC"/>
              </a:defRPr>
            </a:pPr>
            <a:r>
              <a:t>• 证据不足区域回归 TRELLIS 生成先验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6537960"/>
            <a:ext cx="6858000" cy="17373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9AABBE"/>
                </a:solidFill>
                <a:latin typeface="Noto Sans CJK SC"/>
              </a:rPr>
              <a:t>VGGT × TRELLIS × Affostruction · Sparse-view Image-to-3D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237744"/>
            <a:ext cx="502920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36CFDC"/>
                </a:solidFill>
                <a:latin typeface="Noto Sans CJK S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182880"/>
            <a:ext cx="10744200" cy="5303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0F5FA"/>
                </a:solidFill>
                <a:latin typeface="Noto Sans CJK SC"/>
              </a:rPr>
              <a:t>SS：RGBD 体素条件驱动的官方生成流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704088"/>
            <a:ext cx="1056132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50" b="0">
                <a:solidFill>
                  <a:srgbClr val="9AABBE"/>
                </a:solidFill>
                <a:latin typeface="Noto Sans CJK SC"/>
              </a:rPr>
              <a:t>将 VGGT 的确定性几何变成 Affostruction SS Flow 可读取的紧凑三维 token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1024128"/>
            <a:ext cx="11292840" cy="22860"/>
          </a:xfrm>
          <a:prstGeom prst="rect">
            <a:avLst/>
          </a:prstGeom>
          <a:solidFill>
            <a:srgbClr val="36CFDC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1508760" cy="1024128"/>
          </a:xfrm>
          <a:prstGeom prst="roundRect">
            <a:avLst/>
          </a:prstGeom>
          <a:solidFill>
            <a:srgbClr val="18283E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435608"/>
            <a:ext cx="1344168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36CFDC"/>
                </a:solidFill>
                <a:latin typeface="Noto Sans CJK SC"/>
              </a:rPr>
              <a:t>RGB / Mask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746504"/>
            <a:ext cx="1344168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010" b="0">
                <a:solidFill>
                  <a:srgbClr val="F0F5FA"/>
                </a:solidFill>
                <a:latin typeface="Noto Sans CJK SC"/>
              </a:rPr>
              <a:t>按 frame ID 精确对齐
缺失视图不重排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03120" y="1719072"/>
            <a:ext cx="292608" cy="274320"/>
          </a:xfrm>
          <a:prstGeom prst="rightArrow">
            <a:avLst/>
          </a:prstGeom>
          <a:solidFill>
            <a:srgbClr val="36CFDC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68880" y="1353312"/>
            <a:ext cx="1600200" cy="1024128"/>
          </a:xfrm>
          <a:prstGeom prst="roundRect">
            <a:avLst/>
          </a:prstGeom>
          <a:solidFill>
            <a:srgbClr val="18283E"/>
          </a:solidFill>
          <a:ln>
            <a:solidFill>
              <a:srgbClr val="4A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51176" y="1435608"/>
            <a:ext cx="1435608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4A8BFF"/>
                </a:solidFill>
                <a:latin typeface="Noto Sans CJK SC"/>
              </a:rPr>
              <a:t>DINO ViT-L/14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1176" y="1746504"/>
            <a:ext cx="1435608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010" b="0">
                <a:solidFill>
                  <a:srgbClr val="F0F5FA"/>
                </a:solidFill>
                <a:latin typeface="Noto Sans CJK SC"/>
              </a:rPr>
              <a:t>冻结编码器
1024-D patch map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60520" y="1719072"/>
            <a:ext cx="292608" cy="274320"/>
          </a:xfrm>
          <a:prstGeom prst="rightArrow">
            <a:avLst/>
          </a:prstGeom>
          <a:solidFill>
            <a:srgbClr val="36CFDC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1353312"/>
            <a:ext cx="1673352" cy="1024128"/>
          </a:xfrm>
          <a:prstGeom prst="roundRect">
            <a:avLst/>
          </a:prstGeom>
          <a:solidFill>
            <a:srgbClr val="18283E"/>
          </a:solidFill>
          <a:ln>
            <a:solidFill>
              <a:srgbClr val="3AC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1435608"/>
            <a:ext cx="150876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3ACB84"/>
                </a:solidFill>
                <a:latin typeface="Noto Sans CJK SC"/>
              </a:rPr>
              <a:t>RGBD 反投影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1746504"/>
            <a:ext cx="150876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010" b="0">
                <a:solidFill>
                  <a:srgbClr val="F0F5FA"/>
                </a:solidFill>
                <a:latin typeface="Noto Sans CJK SC"/>
              </a:rPr>
              <a:t>K、T、depth
Pixel → canonical 3D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291072" y="1719072"/>
            <a:ext cx="292608" cy="274320"/>
          </a:xfrm>
          <a:prstGeom prst="rightArrow">
            <a:avLst/>
          </a:prstGeom>
          <a:solidFill>
            <a:srgbClr val="36CFDC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56832" y="1353312"/>
            <a:ext cx="1554480" cy="1024128"/>
          </a:xfrm>
          <a:prstGeom prst="roundRect">
            <a:avLst/>
          </a:prstGeom>
          <a:solidFill>
            <a:srgbClr val="18283E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8" y="1435608"/>
            <a:ext cx="1389888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36CFDC"/>
                </a:solidFill>
                <a:latin typeface="Noto Sans CJK SC"/>
              </a:rPr>
              <a:t>16³ 融合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1746504"/>
            <a:ext cx="1389888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010" b="0">
                <a:solidFill>
                  <a:srgbClr val="F0F5FA"/>
                </a:solidFill>
                <a:latin typeface="Noto Sans CJK SC"/>
              </a:rPr>
              <a:t>voxel 内采样
跨有效视图平均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302752" y="1719072"/>
            <a:ext cx="292608" cy="274320"/>
          </a:xfrm>
          <a:prstGeom prst="rightArrow">
            <a:avLst/>
          </a:prstGeom>
          <a:solidFill>
            <a:srgbClr val="36CFDC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68512" y="1353312"/>
            <a:ext cx="1554480" cy="1024128"/>
          </a:xfrm>
          <a:prstGeom prst="roundRect">
            <a:avLst/>
          </a:prstGeom>
          <a:solidFill>
            <a:srgbClr val="18283E"/>
          </a:solidFill>
          <a:ln>
            <a:solidFill>
              <a:srgbClr val="4A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50808" y="1435608"/>
            <a:ext cx="1389888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4A8BFF"/>
                </a:solidFill>
                <a:latin typeface="Noto Sans CJK SC"/>
              </a:rPr>
              <a:t>条件 Token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0808" y="1746504"/>
            <a:ext cx="1389888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010" b="0">
                <a:solidFill>
                  <a:srgbClr val="F0F5FA"/>
                </a:solidFill>
                <a:latin typeface="Noto Sans CJK SC"/>
              </a:rPr>
              <a:t>LayerNorm + 3D PE
compact + valid mask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314432" y="1719072"/>
            <a:ext cx="292608" cy="274320"/>
          </a:xfrm>
          <a:prstGeom prst="rightArrow">
            <a:avLst/>
          </a:prstGeom>
          <a:solidFill>
            <a:srgbClr val="36CFDC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680192" y="1353312"/>
            <a:ext cx="1005840" cy="1024128"/>
          </a:xfrm>
          <a:prstGeom prst="roundRect">
            <a:avLst/>
          </a:prstGeom>
          <a:solidFill>
            <a:srgbClr val="18283E"/>
          </a:solidFill>
          <a:ln>
            <a:solidFill>
              <a:srgbClr val="3AC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62488" y="1435608"/>
            <a:ext cx="841248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3ACB84"/>
                </a:solidFill>
                <a:latin typeface="Noto Sans CJK SC"/>
              </a:rPr>
              <a:t>SS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62488" y="1746504"/>
            <a:ext cx="841248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010" b="0">
                <a:solidFill>
                  <a:srgbClr val="F0F5FA"/>
                </a:solidFill>
                <a:latin typeface="Noto Sans CJK SC"/>
              </a:rPr>
              <a:t>768×12
velocity field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2779776"/>
            <a:ext cx="3685032" cy="2862072"/>
          </a:xfrm>
          <a:prstGeom prst="roundRect">
            <a:avLst/>
          </a:prstGeom>
          <a:solidFill>
            <a:srgbClr val="121F32"/>
          </a:solidFill>
          <a:ln>
            <a:solidFill>
              <a:srgbClr val="4A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026664"/>
            <a:ext cx="3191256" cy="3383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4A8BFF"/>
                </a:solidFill>
                <a:latin typeface="Noto Sans CJK SC"/>
              </a:rPr>
              <a:t>空间条件构造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3547872"/>
            <a:ext cx="3163824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30" b="1">
                <a:solidFill>
                  <a:srgbClr val="F0F5FA"/>
                </a:solidFill>
                <a:latin typeface="Noto Sans CJK SC"/>
              </a:rPr>
              <a:t>Xc=[(u−cx)d/fx, (v−cy)d/fy, d]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" y="3941063"/>
            <a:ext cx="3337560" cy="3931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50" b="1">
                <a:solidFill>
                  <a:srgbClr val="F0F5FA"/>
                </a:solidFill>
                <a:latin typeface="Noto Sans CJK SC"/>
              </a:rPr>
              <a:t>Xw = Tc2w Xc   →   q = floor[(Xw+0.5)·16]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" y="4517136"/>
            <a:ext cx="2999232" cy="8229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600"/>
              </a:spcAft>
              <a:defRPr sz="1170">
                <a:solidFill>
                  <a:srgbClr val="F0F5FA"/>
                </a:solidFill>
                <a:latin typeface="Noto Sans CJK SC"/>
              </a:defRPr>
            </a:pPr>
            <a:r>
              <a:t>• 每个 voxel 先求平均采样位置，再用 grid_sample 读取 DINO</a:t>
            </a:r>
          </a:p>
          <a:p>
            <a:pPr>
              <a:spcAft>
                <a:spcPts val="600"/>
              </a:spcAft>
              <a:defRPr sz="1170">
                <a:solidFill>
                  <a:srgbClr val="F0F5FA"/>
                </a:solidFill>
                <a:latin typeface="Noto Sans CJK SC"/>
              </a:defRPr>
            </a:pPr>
            <a:r>
              <a:t>• 仅观测 voxel 进入 condition；view_valid_mask 排除 padding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25696" y="2779776"/>
            <a:ext cx="3364992" cy="2862072"/>
          </a:xfrm>
          <a:prstGeom prst="roundRect">
            <a:avLst/>
          </a:prstGeom>
          <a:solidFill>
            <a:srgbClr val="121F32"/>
          </a:solidFill>
          <a:ln>
            <a:solidFill>
              <a:srgbClr val="3AC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72584" y="3026664"/>
            <a:ext cx="2871216" cy="3383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3ACB84"/>
                </a:solidFill>
                <a:latin typeface="Noto Sans CJK SC"/>
              </a:rPr>
              <a:t>官方模型拓扑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0016" y="3575304"/>
            <a:ext cx="2761488" cy="1591056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F0F5FA"/>
                </a:solidFill>
                <a:latin typeface="Noto Sans CJK SC"/>
              </a:defRPr>
            </a:pPr>
            <a:r>
              <a:t>• SparseStructureFlowModel</a:t>
            </a:r>
          </a:p>
          <a:p>
            <a:pPr>
              <a:spcAft>
                <a:spcPts val="700"/>
              </a:spcAft>
              <a:defRPr sz="1220">
                <a:solidFill>
                  <a:srgbClr val="F0F5FA"/>
                </a:solidFill>
                <a:latin typeface="Noto Sans CJK SC"/>
              </a:defRPr>
            </a:pPr>
            <a:r>
              <a:t>• resolution 16³；in/out 8 channel</a:t>
            </a:r>
          </a:p>
          <a:p>
            <a:pPr>
              <a:spcAft>
                <a:spcPts val="700"/>
              </a:spcAft>
              <a:defRPr sz="1220">
                <a:solidFill>
                  <a:srgbClr val="F0F5FA"/>
                </a:solidFill>
                <a:latin typeface="Noto Sans CJK SC"/>
              </a:defRPr>
            </a:pPr>
            <a:r>
              <a:t>• hidden 768；12 blocks；12 heads</a:t>
            </a:r>
          </a:p>
          <a:p>
            <a:pPr>
              <a:spcAft>
                <a:spcPts val="700"/>
              </a:spcAft>
              <a:defRPr sz="1220">
                <a:solidFill>
                  <a:srgbClr val="F0F5FA"/>
                </a:solidFill>
                <a:latin typeface="Noto Sans CJK SC"/>
              </a:defRPr>
            </a:pPr>
            <a:r>
              <a:t>• absolute PE；Q/K RMS norm</a:t>
            </a:r>
          </a:p>
          <a:p>
            <a:pPr>
              <a:spcAft>
                <a:spcPts val="700"/>
              </a:spcAft>
              <a:defRPr sz="1220">
                <a:solidFill>
                  <a:srgbClr val="F0F5FA"/>
                </a:solidFill>
                <a:latin typeface="Noto Sans CJK SC"/>
              </a:defRPr>
            </a:pPr>
            <a:r>
              <a:t>• DINO 冻结；SS Flow 全参数微调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37575" y="2779776"/>
            <a:ext cx="3639312" cy="2862072"/>
          </a:xfrm>
          <a:prstGeom prst="roundRect">
            <a:avLst/>
          </a:prstGeom>
          <a:solidFill>
            <a:srgbClr val="121F32"/>
          </a:solidFill>
          <a:ln>
            <a:solidFill>
              <a:srgbClr val="3AC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4" y="3026664"/>
            <a:ext cx="3145536" cy="3383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3ACB84"/>
                </a:solidFill>
                <a:latin typeface="Noto Sans CJK SC"/>
              </a:rPr>
              <a:t>Conditional Flow Matching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593592"/>
            <a:ext cx="3246120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10" b="1">
                <a:solidFill>
                  <a:srgbClr val="F0F5FA"/>
                </a:solidFill>
                <a:latin typeface="Noto Sans CJK SC"/>
              </a:rPr>
              <a:t>xt=(1−t)x0+[σmin+(1−σmin)t]ε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032504"/>
            <a:ext cx="288036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80" b="1">
                <a:solidFill>
                  <a:srgbClr val="F0F5FA"/>
                </a:solidFill>
                <a:latin typeface="Noto Sans CJK SC"/>
              </a:rPr>
              <a:t>v*=(1−σmin)ε−x0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3336" y="4462272"/>
            <a:ext cx="2898648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10" b="1">
                <a:solidFill>
                  <a:srgbClr val="3ACB84"/>
                </a:solidFill>
                <a:latin typeface="Noto Sans CJK SC"/>
              </a:rPr>
              <a:t>LSS = ‖vθ(xt,t,C)−v*‖²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0183" y="5038344"/>
            <a:ext cx="3026664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170" b="1">
                <a:solidFill>
                  <a:srgbClr val="9AABBE"/>
                </a:solidFill>
                <a:latin typeface="Noto Sans CJK SC"/>
              </a:rPr>
              <a:t>ODE + CFG → active voxel support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" y="6537960"/>
            <a:ext cx="6858000" cy="17373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9AABBE"/>
                </a:solidFill>
                <a:latin typeface="Noto Sans CJK SC"/>
              </a:rPr>
              <a:t>VGGT × TRELLIS × Affostruction · Sparse-view Image-to-3D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237744"/>
            <a:ext cx="502920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36CFDC"/>
                </a:solidFill>
                <a:latin typeface="Noto Sans CJK S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182880"/>
            <a:ext cx="10744200" cy="5303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0F5FA"/>
                </a:solidFill>
                <a:latin typeface="Noto Sans CJK SC"/>
              </a:rPr>
              <a:t>SLat：像素对齐、置信度融合与受控残差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704088"/>
            <a:ext cx="1056132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50" b="0">
                <a:solidFill>
                  <a:srgbClr val="9AABBE"/>
                </a:solidFill>
                <a:latin typeface="Noto Sans CJK SC"/>
              </a:rPr>
              <a:t>把 Affostruction 稀疏条件流转化为冻结 TRELLIS 先验上的图像空间校正器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1024128"/>
            <a:ext cx="11292840" cy="22860"/>
          </a:xfrm>
          <a:prstGeom prst="rect">
            <a:avLst/>
          </a:prstGeom>
          <a:solidFill>
            <a:srgbClr val="36CFDC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1508760" cy="1024128"/>
          </a:xfrm>
          <a:prstGeom prst="roundRect">
            <a:avLst/>
          </a:prstGeom>
          <a:solidFill>
            <a:srgbClr val="18283E"/>
          </a:solidFill>
          <a:ln>
            <a:solidFill>
              <a:srgbClr val="3AC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435608"/>
            <a:ext cx="1344168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3ACB84"/>
                </a:solidFill>
                <a:latin typeface="Noto Sans CJK SC"/>
              </a:rPr>
              <a:t>64³ active voxel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746504"/>
            <a:ext cx="1344168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010" b="0">
                <a:solidFill>
                  <a:srgbClr val="F0F5FA"/>
                </a:solidFill>
                <a:latin typeface="Noto Sans CJK SC"/>
              </a:rPr>
              <a:t>SS support
canonical coordinate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93976" y="1719072"/>
            <a:ext cx="292608" cy="274320"/>
          </a:xfrm>
          <a:prstGeom prst="rightArrow">
            <a:avLst/>
          </a:prstGeom>
          <a:solidFill>
            <a:srgbClr val="36CFDC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68880" y="1353312"/>
            <a:ext cx="1600200" cy="1024128"/>
          </a:xfrm>
          <a:prstGeom prst="roundRect">
            <a:avLst/>
          </a:prstGeom>
          <a:solidFill>
            <a:srgbClr val="18283E"/>
          </a:solidFill>
          <a:ln>
            <a:solidFill>
              <a:srgbClr val="4A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51176" y="1435608"/>
            <a:ext cx="1435608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4A8BFF"/>
                </a:solidFill>
                <a:latin typeface="Noto Sans CJK SC"/>
              </a:rPr>
              <a:t>投影所有视图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1176" y="1746504"/>
            <a:ext cx="1435608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010" b="0">
                <a:solidFill>
                  <a:srgbClr val="F0F5FA"/>
                </a:solidFill>
                <a:latin typeface="Noto Sans CJK SC"/>
              </a:rPr>
              <a:t>Kaolin/OpenCV K,T
3D → sampling grid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51376" y="1719072"/>
            <a:ext cx="292608" cy="274320"/>
          </a:xfrm>
          <a:prstGeom prst="rightArrow">
            <a:avLst/>
          </a:prstGeom>
          <a:solidFill>
            <a:srgbClr val="36CFDC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1353312"/>
            <a:ext cx="1600200" cy="1024128"/>
          </a:xfrm>
          <a:prstGeom prst="roundRect">
            <a:avLst/>
          </a:prstGeom>
          <a:solidFill>
            <a:srgbClr val="18283E"/>
          </a:solidFill>
          <a:ln>
            <a:solidFill>
              <a:srgbClr val="A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1435608"/>
            <a:ext cx="1435608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A770FF"/>
                </a:solidFill>
                <a:latin typeface="Noto Sans CJK SC"/>
              </a:rPr>
              <a:t>双频特征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1746504"/>
            <a:ext cx="1435608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010" b="0">
                <a:solidFill>
                  <a:srgbClr val="F0F5FA"/>
                </a:solidFill>
                <a:latin typeface="Noto Sans CJK SC"/>
              </a:rPr>
              <a:t>high: DINO/VGGT
low: shallow RGB CNN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208776" y="1719072"/>
            <a:ext cx="292608" cy="274320"/>
          </a:xfrm>
          <a:prstGeom prst="rightArrow">
            <a:avLst/>
          </a:prstGeom>
          <a:solidFill>
            <a:srgbClr val="36CFDC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0" y="1353312"/>
            <a:ext cx="1508760" cy="1024128"/>
          </a:xfrm>
          <a:prstGeom prst="roundRect">
            <a:avLst/>
          </a:prstGeom>
          <a:solidFill>
            <a:srgbClr val="18283E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5976" y="1435608"/>
            <a:ext cx="1344168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36CFDC"/>
                </a:solidFill>
                <a:latin typeface="Noto Sans CJK SC"/>
              </a:rPr>
              <a:t>可信融合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5976" y="1746504"/>
            <a:ext cx="1344168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010" b="0">
                <a:solidFill>
                  <a:srgbClr val="F0F5FA"/>
                </a:solidFill>
                <a:latin typeface="Noto Sans CJK SC"/>
              </a:rPr>
              <a:t>confidence · visibility
depth · angle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174736" y="1719072"/>
            <a:ext cx="292608" cy="274320"/>
          </a:xfrm>
          <a:prstGeom prst="rightArrow">
            <a:avLst/>
          </a:prstGeom>
          <a:solidFill>
            <a:srgbClr val="36CFDC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49640" y="1353312"/>
            <a:ext cx="1417320" cy="1024128"/>
          </a:xfrm>
          <a:prstGeom prst="roundRect">
            <a:avLst/>
          </a:prstGeom>
          <a:solidFill>
            <a:srgbClr val="18283E"/>
          </a:solidFill>
          <a:ln>
            <a:solidFill>
              <a:srgbClr val="A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31936" y="1435608"/>
            <a:ext cx="1252728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A770FF"/>
                </a:solidFill>
                <a:latin typeface="Noto Sans CJK SC"/>
              </a:rPr>
              <a:t>Sparse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1936" y="1746504"/>
            <a:ext cx="1252728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010" b="0">
                <a:solidFill>
                  <a:srgbClr val="F0F5FA"/>
                </a:solidFill>
                <a:latin typeface="Noto Sans CJK SC"/>
              </a:rPr>
              <a:t>768×12 cross-attn
predict Δvraw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049256" y="1719072"/>
            <a:ext cx="292608" cy="274320"/>
          </a:xfrm>
          <a:prstGeom prst="rightArrow">
            <a:avLst/>
          </a:prstGeom>
          <a:solidFill>
            <a:srgbClr val="36CFDC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424160" y="1353312"/>
            <a:ext cx="1234440" cy="1024128"/>
          </a:xfrm>
          <a:prstGeom prst="roundRect">
            <a:avLst/>
          </a:prstGeom>
          <a:solidFill>
            <a:srgbClr val="18283E"/>
          </a:solidFill>
          <a:ln>
            <a:solidFill>
              <a:srgbClr val="3AC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06456" y="1435608"/>
            <a:ext cx="1069848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3ACB84"/>
                </a:solidFill>
                <a:latin typeface="Noto Sans CJK SC"/>
              </a:rPr>
              <a:t>Gated Residual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06456" y="1746504"/>
            <a:ext cx="1069848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010" b="0">
                <a:solidFill>
                  <a:srgbClr val="F0F5FA"/>
                </a:solidFill>
                <a:latin typeface="Noto Sans CJK SC"/>
              </a:rPr>
              <a:t>frozen base +
bounded correction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2779776"/>
            <a:ext cx="3675887" cy="2862072"/>
          </a:xfrm>
          <a:prstGeom prst="roundRect">
            <a:avLst/>
          </a:prstGeom>
          <a:solidFill>
            <a:srgbClr val="121F32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026664"/>
            <a:ext cx="3182112" cy="3383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36CFDC"/>
                </a:solidFill>
                <a:latin typeface="Noto Sans CJK SC"/>
              </a:rPr>
              <a:t>逐 voxel 多视图证据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3575304"/>
            <a:ext cx="3182112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10" b="1">
                <a:solidFill>
                  <a:srgbClr val="F0F5FA"/>
                </a:solidFill>
                <a:latin typeface="Noto Sans CJK SC"/>
              </a:rPr>
              <a:t>αᵢᵛ = cᵢᵛ · mᵢᵛ · wdepth · wangle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4023360"/>
            <a:ext cx="3291840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10" b="1">
                <a:solidFill>
                  <a:srgbClr val="F0F5FA"/>
                </a:solidFill>
                <a:latin typeface="Noto Sans CJK SC"/>
              </a:rPr>
              <a:t>fᵢ = Σᵥ αᵢᵛ[fᴴ⊕fᴸ] / (Σᵥ αᵢᵛ+ε)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" y="4590288"/>
            <a:ext cx="2907792" cy="813816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F0F5FA"/>
                </a:solidFill>
                <a:latin typeface="Noto Sans CJK SC"/>
              </a:defRPr>
            </a:pPr>
            <a:r>
              <a:t>• mask/occlusion 排除背景与被遮挡观测</a:t>
            </a:r>
          </a:p>
          <a:p>
            <a:pPr>
              <a:spcAft>
                <a:spcPts val="500"/>
              </a:spcAft>
              <a:defRPr sz="1150">
                <a:solidFill>
                  <a:srgbClr val="F0F5FA"/>
                </a:solidFill>
                <a:latin typeface="Noto Sans CJK SC"/>
              </a:defRPr>
            </a:pPr>
            <a:r>
              <a:t>• depth 与 normal angle 衡量几何一致性</a:t>
            </a:r>
          </a:p>
          <a:p>
            <a:pPr>
              <a:spcAft>
                <a:spcPts val="500"/>
              </a:spcAft>
              <a:defRPr sz="1150">
                <a:solidFill>
                  <a:srgbClr val="F0F5FA"/>
                </a:solidFill>
                <a:latin typeface="Noto Sans CJK SC"/>
              </a:defRPr>
            </a:pPr>
            <a:r>
              <a:t>• 融合后投影为 1024-D condition token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25696" y="2779776"/>
            <a:ext cx="3383280" cy="2862072"/>
          </a:xfrm>
          <a:prstGeom prst="roundRect">
            <a:avLst/>
          </a:prstGeom>
          <a:solidFill>
            <a:srgbClr val="121F32"/>
          </a:solidFill>
          <a:ln>
            <a:solidFill>
              <a:srgbClr val="A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72584" y="3026664"/>
            <a:ext cx="2889504" cy="3383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A770FF"/>
                </a:solidFill>
                <a:latin typeface="Noto Sans CJK SC"/>
              </a:rPr>
              <a:t>Affostruction 稀疏残差流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0016" y="3575304"/>
            <a:ext cx="2761488" cy="1591056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F0F5FA"/>
                </a:solidFill>
                <a:latin typeface="Noto Sans CJK SC"/>
              </a:defRPr>
            </a:pPr>
            <a:r>
              <a:t>• SLatFlowModel on 64³ sparse support</a:t>
            </a:r>
          </a:p>
          <a:p>
            <a:pPr>
              <a:spcAft>
                <a:spcPts val="700"/>
              </a:spcAft>
              <a:defRPr sz="1200">
                <a:solidFill>
                  <a:srgbClr val="F0F5FA"/>
                </a:solidFill>
                <a:latin typeface="Noto Sans CJK SC"/>
              </a:defRPr>
            </a:pPr>
            <a:r>
              <a:t>• in/out 8 channel；hidden 768</a:t>
            </a:r>
          </a:p>
          <a:p>
            <a:pPr>
              <a:spcAft>
                <a:spcPts val="700"/>
              </a:spcAft>
              <a:defRPr sz="1200">
                <a:solidFill>
                  <a:srgbClr val="F0F5FA"/>
                </a:solidFill>
                <a:latin typeface="Noto Sans CJK SC"/>
              </a:defRPr>
            </a:pPr>
            <a:r>
              <a:t>• 12 blocks；12 heads；patch size 2</a:t>
            </a:r>
          </a:p>
          <a:p>
            <a:pPr>
              <a:spcAft>
                <a:spcPts val="700"/>
              </a:spcAft>
              <a:defRPr sz="1200">
                <a:solidFill>
                  <a:srgbClr val="F0F5FA"/>
                </a:solidFill>
                <a:latin typeface="Noto Sans CJK SC"/>
              </a:defRPr>
            </a:pPr>
            <a:r>
              <a:t>• cross-attention 读取像素对齐 condition</a:t>
            </a:r>
          </a:p>
          <a:p>
            <a:pPr>
              <a:spcAft>
                <a:spcPts val="700"/>
              </a:spcAft>
              <a:defRPr sz="1200">
                <a:solidFill>
                  <a:srgbClr val="F0F5FA"/>
                </a:solidFill>
                <a:latin typeface="Noto Sans CJK SC"/>
              </a:defRPr>
            </a:pPr>
            <a:r>
              <a:t>• 训练 spatial flow + conditioner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55864" y="2779776"/>
            <a:ext cx="3621024" cy="2862072"/>
          </a:xfrm>
          <a:prstGeom prst="roundRect">
            <a:avLst/>
          </a:prstGeom>
          <a:solidFill>
            <a:srgbClr val="121F32"/>
          </a:solidFill>
          <a:ln>
            <a:solidFill>
              <a:srgbClr val="3AC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3026664"/>
            <a:ext cx="3127248" cy="3383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3ACB84"/>
                </a:solidFill>
                <a:latin typeface="Noto Sans CJK SC"/>
              </a:rPr>
              <a:t>冻结 TRELLIS 先验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49056" y="3593592"/>
            <a:ext cx="283464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80" b="1">
                <a:solidFill>
                  <a:srgbClr val="F0F5FA"/>
                </a:solidFill>
                <a:latin typeface="Noto Sans CJK SC"/>
              </a:rPr>
              <a:t>L = λres · RMS(vbase)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4014215"/>
            <a:ext cx="3118104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30" b="1">
                <a:solidFill>
                  <a:srgbClr val="F0F5FA"/>
                </a:solidFill>
                <a:latin typeface="Noto Sans CJK SC"/>
              </a:rPr>
              <a:t>Δv = c · L · tanh(Δvraw / 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22208" y="4453128"/>
            <a:ext cx="2688336" cy="37490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50" b="1">
                <a:solidFill>
                  <a:srgbClr val="3ACB84"/>
                </a:solidFill>
                <a:latin typeface="Noto Sans CJK SC"/>
              </a:rPr>
              <a:t>vfinal = vfrozen + Δv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4464" y="5010912"/>
            <a:ext cx="315468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130" b="1">
                <a:solidFill>
                  <a:srgbClr val="9AABBE"/>
                </a:solidFill>
                <a:latin typeface="Noto Sans CJK SC"/>
              </a:rPr>
              <a:t>低可信区域 → correction≈0 → 保留生成先验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" y="6537960"/>
            <a:ext cx="6858000" cy="17373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9AABBE"/>
                </a:solidFill>
                <a:latin typeface="Noto Sans CJK SC"/>
              </a:rPr>
              <a:t>VGGT × TRELLIS × Affostruction · Sparse-view Image-to-3D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237744"/>
            <a:ext cx="502920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36CFDC"/>
                </a:solidFill>
                <a:latin typeface="Noto Sans CJK SC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182880"/>
            <a:ext cx="10744200" cy="5303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0F5FA"/>
                </a:solidFill>
                <a:latin typeface="Noto Sans CJK SC"/>
              </a:rPr>
              <a:t>训练、推理与参数更新闭环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704088"/>
            <a:ext cx="1056132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50" b="0">
                <a:solidFill>
                  <a:srgbClr val="9AABBE"/>
                </a:solidFill>
                <a:latin typeface="Noto Sans CJK SC"/>
              </a:rPr>
              <a:t>两阶段分开优化，统一坐标与条件契约，在生成完整性和重建约束间分配控制权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1024128"/>
            <a:ext cx="11292840" cy="22860"/>
          </a:xfrm>
          <a:prstGeom prst="rect">
            <a:avLst/>
          </a:prstGeom>
          <a:solidFill>
            <a:srgbClr val="36CFDC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44168"/>
            <a:ext cx="1600200" cy="1024128"/>
          </a:xfrm>
          <a:prstGeom prst="roundRect">
            <a:avLst/>
          </a:prstGeom>
          <a:solidFill>
            <a:srgbClr val="18283E"/>
          </a:solidFill>
          <a:ln>
            <a:solidFill>
              <a:srgbClr val="3AC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426464"/>
            <a:ext cx="1435608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3ACB84"/>
                </a:solidFill>
                <a:latin typeface="Noto Sans CJK SC"/>
              </a:rPr>
              <a:t>训练 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737360"/>
            <a:ext cx="1435608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010" b="0">
                <a:solidFill>
                  <a:srgbClr val="F0F5FA"/>
                </a:solidFill>
                <a:latin typeface="Noto Sans CJK SC"/>
              </a:rPr>
              <a:t>RGBD condition
CFM velocity MSE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03704" y="1709928"/>
            <a:ext cx="292608" cy="274320"/>
          </a:xfrm>
          <a:prstGeom prst="rightArrow">
            <a:avLst/>
          </a:prstGeom>
          <a:solidFill>
            <a:srgbClr val="36CFDC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96896" y="1344168"/>
            <a:ext cx="1746504" cy="1024128"/>
          </a:xfrm>
          <a:prstGeom prst="roundRect">
            <a:avLst/>
          </a:prstGeom>
          <a:solidFill>
            <a:srgbClr val="18283E"/>
          </a:solidFill>
          <a:ln>
            <a:solidFill>
              <a:srgbClr val="3AC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1" y="1426464"/>
            <a:ext cx="1581912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3ACB84"/>
                </a:solidFill>
                <a:latin typeface="Noto Sans CJK SC"/>
              </a:rPr>
              <a:t>生成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1" y="1737360"/>
            <a:ext cx="1581912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010" b="0">
                <a:solidFill>
                  <a:srgbClr val="F0F5FA"/>
                </a:solidFill>
                <a:latin typeface="Noto Sans CJK SC"/>
              </a:rPr>
              <a:t>EMA / CFG / ODE
16³ → active voxel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443984" y="1709928"/>
            <a:ext cx="292608" cy="274320"/>
          </a:xfrm>
          <a:prstGeom prst="rightArrow">
            <a:avLst/>
          </a:prstGeom>
          <a:solidFill>
            <a:srgbClr val="36CFDC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37176" y="1344168"/>
            <a:ext cx="1700784" cy="1024128"/>
          </a:xfrm>
          <a:prstGeom prst="roundRect">
            <a:avLst/>
          </a:prstGeom>
          <a:solidFill>
            <a:srgbClr val="18283E"/>
          </a:solidFill>
          <a:ln>
            <a:solidFill>
              <a:srgbClr val="A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9472" y="1426464"/>
            <a:ext cx="1536192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A770FF"/>
                </a:solidFill>
                <a:latin typeface="Noto Sans CJK SC"/>
              </a:rPr>
              <a:t>训练 SLat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1737360"/>
            <a:ext cx="1536192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010" b="0">
                <a:solidFill>
                  <a:srgbClr val="F0F5FA"/>
                </a:solidFill>
                <a:latin typeface="Noto Sans CJK SC"/>
              </a:rPr>
              <a:t>frozen base teacher
learn target residual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638544" y="1709928"/>
            <a:ext cx="292608" cy="274320"/>
          </a:xfrm>
          <a:prstGeom prst="rightArrow">
            <a:avLst/>
          </a:prstGeom>
          <a:solidFill>
            <a:srgbClr val="36CFDC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31736" y="1344168"/>
            <a:ext cx="1773936" cy="1024128"/>
          </a:xfrm>
          <a:prstGeom prst="roundRect">
            <a:avLst/>
          </a:prstGeom>
          <a:solidFill>
            <a:srgbClr val="18283E"/>
          </a:solidFill>
          <a:ln>
            <a:solidFill>
              <a:srgbClr val="A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4032" y="1426464"/>
            <a:ext cx="1609344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A770FF"/>
                </a:solidFill>
                <a:latin typeface="Noto Sans CJK SC"/>
              </a:rPr>
              <a:t>联合采样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1737360"/>
            <a:ext cx="1609344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010" b="0">
                <a:solidFill>
                  <a:srgbClr val="F0F5FA"/>
                </a:solidFill>
                <a:latin typeface="Noto Sans CJK SC"/>
              </a:rPr>
              <a:t>base velocity
+ confidence residual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906256" y="1709928"/>
            <a:ext cx="292608" cy="274320"/>
          </a:xfrm>
          <a:prstGeom prst="rightArrow">
            <a:avLst/>
          </a:prstGeom>
          <a:solidFill>
            <a:srgbClr val="36CFDC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99448" y="1344168"/>
            <a:ext cx="1993392" cy="1024128"/>
          </a:xfrm>
          <a:prstGeom prst="roundRect">
            <a:avLst/>
          </a:prstGeom>
          <a:solidFill>
            <a:srgbClr val="18283E"/>
          </a:solidFill>
          <a:ln>
            <a:solidFill>
              <a:srgbClr val="F5A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4" y="1426464"/>
            <a:ext cx="18288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5A636"/>
                </a:solidFill>
                <a:latin typeface="Noto Sans CJK SC"/>
              </a:rPr>
              <a:t>TRELLIS Decode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1737360"/>
            <a:ext cx="182880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010" b="0">
                <a:solidFill>
                  <a:srgbClr val="F0F5FA"/>
                </a:solidFill>
                <a:latin typeface="Noto Sans CJK SC"/>
              </a:rPr>
              <a:t>Gaussian / mesh
RGB/mask/depth/geometry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761488"/>
            <a:ext cx="3520440" cy="2907792"/>
          </a:xfrm>
          <a:prstGeom prst="roundRect">
            <a:avLst/>
          </a:prstGeom>
          <a:solidFill>
            <a:srgbClr val="121F32"/>
          </a:solidFill>
          <a:ln>
            <a:solidFill>
              <a:srgbClr val="3AC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008376"/>
            <a:ext cx="3026664" cy="3383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3ACB84"/>
                </a:solidFill>
                <a:latin typeface="Noto Sans CJK SC"/>
              </a:rPr>
              <a:t>SS 参数与目标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3566160"/>
            <a:ext cx="2852928" cy="1627632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F0F5FA"/>
                </a:solidFill>
                <a:latin typeface="Noto Sans CJK SC"/>
              </a:defRPr>
            </a:pPr>
            <a:r>
              <a:t>• 训练：Affostruction SS Flow 全部参数</a:t>
            </a:r>
          </a:p>
          <a:p>
            <a:pPr>
              <a:spcAft>
                <a:spcPts val="700"/>
              </a:spcAft>
              <a:defRPr sz="1220">
                <a:solidFill>
                  <a:srgbClr val="F0F5FA"/>
                </a:solidFill>
                <a:latin typeface="Noto Sans CJK SC"/>
              </a:defRPr>
            </a:pPr>
            <a:r>
              <a:t>• 冻结：DINO 与 RGBD conditioner</a:t>
            </a:r>
          </a:p>
          <a:p>
            <a:pPr>
              <a:spcAft>
                <a:spcPts val="700"/>
              </a:spcAft>
              <a:defRPr sz="1220">
                <a:solidFill>
                  <a:srgbClr val="F0F5FA"/>
                </a:solidFill>
                <a:latin typeface="Noto Sans CJK SC"/>
              </a:defRPr>
            </a:pPr>
            <a:r>
              <a:t>• 目标：LSS = velocity CFM-MSE</a:t>
            </a:r>
          </a:p>
          <a:p>
            <a:pPr>
              <a:spcAft>
                <a:spcPts val="700"/>
              </a:spcAft>
              <a:defRPr sz="1220">
                <a:solidFill>
                  <a:srgbClr val="F0F5FA"/>
                </a:solidFill>
                <a:latin typeface="Noto Sans CJK SC"/>
              </a:defRPr>
            </a:pPr>
            <a:r>
              <a:t>• CFG dropout 学习有/无条件速度场</a:t>
            </a:r>
          </a:p>
          <a:p>
            <a:pPr>
              <a:spcAft>
                <a:spcPts val="700"/>
              </a:spcAft>
              <a:defRPr sz="1220">
                <a:solidFill>
                  <a:srgbClr val="F0F5FA"/>
                </a:solidFill>
                <a:latin typeface="Noto Sans CJK SC"/>
              </a:defRPr>
            </a:pPr>
            <a:r>
              <a:t>• EMA 权重用于稳定生成采样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9392" y="2761488"/>
            <a:ext cx="3675887" cy="2907792"/>
          </a:xfrm>
          <a:prstGeom prst="roundRect">
            <a:avLst/>
          </a:prstGeom>
          <a:solidFill>
            <a:srgbClr val="121F32"/>
          </a:solidFill>
          <a:ln>
            <a:solidFill>
              <a:srgbClr val="A7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008376"/>
            <a:ext cx="3182112" cy="3383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A770FF"/>
                </a:solidFill>
                <a:latin typeface="Noto Sans CJK SC"/>
              </a:rPr>
              <a:t>SLat 参数与目标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1144" y="3566160"/>
            <a:ext cx="3017520" cy="1627632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600"/>
              </a:spcAft>
              <a:defRPr sz="1180">
                <a:solidFill>
                  <a:srgbClr val="F0F5FA"/>
                </a:solidFill>
                <a:latin typeface="Noto Sans CJK SC"/>
              </a:defRPr>
            </a:pPr>
            <a:r>
              <a:t>• 训练：sparse residual flow + conditioner</a:t>
            </a:r>
          </a:p>
          <a:p>
            <a:pPr>
              <a:spcAft>
                <a:spcPts val="600"/>
              </a:spcAft>
              <a:defRPr sz="1180">
                <a:solidFill>
                  <a:srgbClr val="F0F5FA"/>
                </a:solidFill>
                <a:latin typeface="Noto Sans CJK SC"/>
              </a:defRPr>
            </a:pPr>
            <a:r>
              <a:t>• 冻结：TRELLIS native SLat flow</a:t>
            </a:r>
          </a:p>
          <a:p>
            <a:pPr>
              <a:spcAft>
                <a:spcPts val="600"/>
              </a:spcAft>
              <a:defRPr sz="1180">
                <a:solidFill>
                  <a:srgbClr val="F0F5FA"/>
                </a:solidFill>
                <a:latin typeface="Noto Sans CJK SC"/>
              </a:defRPr>
            </a:pPr>
            <a:r>
              <a:t>• Lflow：最终 velocity 对齐目标速度</a:t>
            </a:r>
          </a:p>
          <a:p>
            <a:pPr>
              <a:spcAft>
                <a:spcPts val="600"/>
              </a:spcAft>
              <a:defRPr sz="1180">
                <a:solidFill>
                  <a:srgbClr val="F0F5FA"/>
                </a:solidFill>
                <a:latin typeface="Noto Sans CJK SC"/>
              </a:defRPr>
            </a:pPr>
            <a:r>
              <a:t>• Lendpoint：反推 clean x0；Lprior：低可信归零</a:t>
            </a:r>
          </a:p>
          <a:p>
            <a:pPr>
              <a:spcAft>
                <a:spcPts val="600"/>
              </a:spcAft>
              <a:defRPr sz="1180">
                <a:solidFill>
                  <a:srgbClr val="F0F5FA"/>
                </a:solidFill>
                <a:latin typeface="Noto Sans CJK SC"/>
              </a:defRPr>
            </a:pPr>
            <a:r>
              <a:t>• Ldecoded：RGB / mask / depth / feature / geometry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11312" y="2761488"/>
            <a:ext cx="3465576" cy="2907792"/>
          </a:xfrm>
          <a:prstGeom prst="roundRect">
            <a:avLst/>
          </a:prstGeom>
          <a:solidFill>
            <a:srgbClr val="121F32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3008376"/>
            <a:ext cx="2971800" cy="3383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36CFDC"/>
                </a:solidFill>
                <a:latin typeface="Noto Sans CJK SC"/>
              </a:rPr>
              <a:t>统一工程契约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13064" y="3566160"/>
            <a:ext cx="2816352" cy="1627632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600"/>
              </a:spcAft>
              <a:defRPr sz="1180">
                <a:solidFill>
                  <a:srgbClr val="F0F5FA"/>
                </a:solidFill>
                <a:latin typeface="Noto Sans CJK SC"/>
              </a:defRPr>
            </a:pPr>
            <a:r>
              <a:t>• frame ID 同步 RGB、depth、mask、K、T</a:t>
            </a:r>
          </a:p>
          <a:p>
            <a:pPr>
              <a:spcAft>
                <a:spcPts val="600"/>
              </a:spcAft>
              <a:defRPr sz="1180">
                <a:solidFill>
                  <a:srgbClr val="F0F5FA"/>
                </a:solidFill>
                <a:latin typeface="Noto Sans CJK SC"/>
              </a:defRPr>
            </a:pPr>
            <a:r>
              <a:t>• 训练/推理统一 canonical frame 与 camera convention</a:t>
            </a:r>
          </a:p>
          <a:p>
            <a:pPr>
              <a:spcAft>
                <a:spcPts val="600"/>
              </a:spcAft>
              <a:defRPr sz="1180">
                <a:solidFill>
                  <a:srgbClr val="F0F5FA"/>
                </a:solidFill>
                <a:latin typeface="Noto Sans CJK SC"/>
              </a:defRPr>
            </a:pPr>
            <a:r>
              <a:t>• DDP 多 GPU；BF16 前向；FP32 主权重</a:t>
            </a:r>
          </a:p>
          <a:p>
            <a:pPr>
              <a:spcAft>
                <a:spcPts val="600"/>
              </a:spcAft>
              <a:defRPr sz="1180">
                <a:solidFill>
                  <a:srgbClr val="F0F5FA"/>
                </a:solidFill>
                <a:latin typeface="Noto Sans CJK SC"/>
              </a:defRPr>
            </a:pPr>
            <a:r>
              <a:t>• gradient checkpointing 控制激活显存</a:t>
            </a:r>
          </a:p>
          <a:p>
            <a:pPr>
              <a:spcAft>
                <a:spcPts val="600"/>
              </a:spcAft>
              <a:defRPr sz="1180">
                <a:solidFill>
                  <a:srgbClr val="F0F5FA"/>
                </a:solidFill>
                <a:latin typeface="Noto Sans CJK SC"/>
              </a:defRPr>
            </a:pPr>
            <a:r>
              <a:t>• 核心原则：观测校正 + 未观测生成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843016"/>
            <a:ext cx="11173968" cy="411480"/>
          </a:xfrm>
          <a:prstGeom prst="roundRect">
            <a:avLst/>
          </a:prstGeom>
          <a:solidFill>
            <a:srgbClr val="16393D"/>
          </a:solidFill>
          <a:ln>
            <a:solidFill>
              <a:srgbClr val="36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888736"/>
            <a:ext cx="10799064" cy="2834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36CFDC"/>
                </a:solidFill>
                <a:latin typeface="Noto Sans CJK SC"/>
              </a:rPr>
              <a:t>Pixel → Voxel → Pixel-aligned Evidence → Gated Structured Latent → 3D Asset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" y="6537960"/>
            <a:ext cx="6858000" cy="17373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9AABBE"/>
                </a:solidFill>
                <a:latin typeface="Noto Sans CJK SC"/>
              </a:rPr>
              <a:t>VGGT × TRELLIS × Affostruction · Sparse-view Image-to-3D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